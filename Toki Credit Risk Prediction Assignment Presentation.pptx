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60" d="100"/>
          <a:sy n="60" d="100"/>
        </p:scale>
        <p:origin x="1522" y="5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11" Type="http://schemas.openxmlformats.org/officeDocument/2006/relationships/image" Target="../media/image35.png"/><Relationship Id="rId5" Type="http://schemas.openxmlformats.org/officeDocument/2006/relationships/image" Target="../media/image29.png"/><Relationship Id="rId10" Type="http://schemas.openxmlformats.org/officeDocument/2006/relationships/image" Target="../media/image34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43.png"/><Relationship Id="rId7" Type="http://schemas.openxmlformats.org/officeDocument/2006/relationships/image" Target="../media/image4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49.png"/><Relationship Id="rId7" Type="http://schemas.openxmlformats.org/officeDocument/2006/relationships/image" Target="../media/image5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10" Type="http://schemas.openxmlformats.org/officeDocument/2006/relationships/image" Target="../media/image56.png"/><Relationship Id="rId4" Type="http://schemas.openxmlformats.org/officeDocument/2006/relationships/image" Target="../media/image50.png"/><Relationship Id="rId9" Type="http://schemas.openxmlformats.org/officeDocument/2006/relationships/image" Target="../media/image5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5337" y="1848742"/>
            <a:ext cx="2981325" cy="2952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81275" y="4609058"/>
            <a:ext cx="7029450" cy="4000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508989" y="2372617"/>
            <a:ext cx="7174021" cy="569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484"/>
              </a:lnSpc>
            </a:pPr>
            <a:r>
              <a:rPr sz="3900" b="0" i="0" u="none">
                <a:solidFill>
                  <a:srgbClr val="0F172A"/>
                </a:solidFill>
                <a:latin typeface="Plus Jakarta Sans ExtraBold"/>
              </a:rPr>
              <a:t>Toki Data Scientist Даалгавар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03025" y="3094583"/>
            <a:ext cx="2585948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50" b="0" i="0" u="none">
                <a:solidFill>
                  <a:srgbClr val="2563EB"/>
                </a:solidFill>
                <a:latin typeface="Plus Jakarta Sans SemiBold"/>
              </a:rPr>
              <a:t>Credit Risk Prediction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38500" y="3637508"/>
            <a:ext cx="57150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0" u="none">
                <a:solidFill>
                  <a:srgbClr val="64748B"/>
                </a:solidFill>
                <a:latin typeface="Inter"/>
              </a:rPr>
              <a:t>91+ хоногийн хугацаа хэтрүүлэх эрсдэлийг таамаглах Machine Learning загварчлал ба үр дүн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7262" y="1929705"/>
            <a:ext cx="171450" cy="1333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2466975"/>
            <a:ext cx="11125200" cy="4762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4371975"/>
            <a:ext cx="11125200" cy="7429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" y="3171825"/>
            <a:ext cx="2638425" cy="10096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62325" y="3171825"/>
            <a:ext cx="2638425" cy="10096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1250" y="3171825"/>
            <a:ext cx="2638425" cy="10096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20175" y="3171825"/>
            <a:ext cx="2638425" cy="10096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58500" y="523875"/>
            <a:ext cx="800100" cy="228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62000" y="2600325"/>
            <a:ext cx="107061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0F172A"/>
                </a:solidFill>
                <a:latin typeface="Inter"/>
              </a:rPr>
              <a:t>Үндсэн зорилго:</a:t>
            </a:r>
            <a:r>
              <a:rPr sz="1050" b="0" i="0" u="none">
                <a:solidFill>
                  <a:srgbClr val="334155"/>
                </a:solidFill>
                <a:latin typeface="Inter Medium"/>
              </a:rPr>
              <a:t> is_dpd_91 target-ийг таамаглаж, өндөр эрсдэлтэй хэрэглэгчдийг Risk Score-аар эрэмбэлэх.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5875" y="4572000"/>
            <a:ext cx="600075" cy="34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25" b="1" i="0" u="none">
                <a:solidFill>
                  <a:srgbClr val="1E293B"/>
                </a:solidFill>
                <a:latin typeface="Inter"/>
              </a:rPr>
              <a:t>Өгөгдөл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71850" y="4572000"/>
            <a:ext cx="1400175" cy="34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25" b="1" i="0" u="none">
                <a:solidFill>
                  <a:srgbClr val="1E293B"/>
                </a:solidFill>
                <a:latin typeface="Inter"/>
              </a:rPr>
              <a:t>Feature Engineering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57925" y="4572000"/>
            <a:ext cx="428625" cy="34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25" b="1" i="0" u="none">
                <a:solidFill>
                  <a:srgbClr val="1E293B"/>
                </a:solidFill>
                <a:latin typeface="Inter"/>
              </a:rPr>
              <a:t>Model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72450" y="4572000"/>
            <a:ext cx="742950" cy="34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25" b="1" i="0" u="none">
                <a:solidFill>
                  <a:srgbClr val="1E293B"/>
                </a:solidFill>
                <a:latin typeface="Inter"/>
              </a:rPr>
              <a:t>Risk Score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01300" y="4572000"/>
            <a:ext cx="962025" cy="34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25" b="1" i="0" u="none">
                <a:solidFill>
                  <a:srgbClr val="1E293B"/>
                </a:solidFill>
                <a:latin typeface="Inter"/>
              </a:rPr>
              <a:t>Risk Segment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3425" y="3371850"/>
            <a:ext cx="2238375" cy="4095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0" i="0" u="none">
                <a:solidFill>
                  <a:srgbClr val="1E3A8A"/>
                </a:solidFill>
                <a:latin typeface="Plus Jakarta Sans ExtraBold"/>
              </a:rPr>
              <a:t>61,200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3425" y="3819525"/>
            <a:ext cx="2238375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Inter SemiBold"/>
              </a:rPr>
              <a:t>Нийт хэрэглэгч (user_list)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2350" y="3371850"/>
            <a:ext cx="2238375" cy="4095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0" i="0" u="none">
                <a:solidFill>
                  <a:srgbClr val="2563EB"/>
                </a:solidFill>
                <a:latin typeface="Plus Jakarta Sans ExtraBold"/>
              </a:rPr>
              <a:t>52,737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2350" y="3819525"/>
            <a:ext cx="2238375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Inter SemiBold"/>
              </a:rPr>
              <a:t>Labeled data (Train/Val/Test)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91275" y="3371850"/>
            <a:ext cx="2238375" cy="4095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0" i="0" u="none">
                <a:solidFill>
                  <a:srgbClr val="1E3A8A"/>
                </a:solidFill>
                <a:latin typeface="Plus Jakarta Sans ExtraBold"/>
              </a:rPr>
              <a:t>8,463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1275" y="3819525"/>
            <a:ext cx="2238375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Inter SemiBold"/>
              </a:rPr>
              <a:t>Final prediction (Unlabeled)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20200" y="3371850"/>
            <a:ext cx="2238375" cy="4095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0" i="0" u="none">
                <a:solidFill>
                  <a:srgbClr val="2563EB"/>
                </a:solidFill>
                <a:latin typeface="Plus Jakarta Sans ExtraBold"/>
              </a:rPr>
              <a:t>33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20200" y="3819525"/>
            <a:ext cx="2238375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Inter SemiBold"/>
              </a:rPr>
              <a:t>Final features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8675" y="4572000"/>
            <a:ext cx="342900" cy="34290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347912" y="4662487"/>
            <a:ext cx="104775" cy="17145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914650" y="4572000"/>
            <a:ext cx="342900" cy="34290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233987" y="4662487"/>
            <a:ext cx="104775" cy="17145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800725" y="4572000"/>
            <a:ext cx="342900" cy="34290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48512" y="4662487"/>
            <a:ext cx="104775" cy="171450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715250" y="4572000"/>
            <a:ext cx="342900" cy="342900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377362" y="4662487"/>
            <a:ext cx="104775" cy="171450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944100" y="4572000"/>
            <a:ext cx="342900" cy="34290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533400" y="457200"/>
            <a:ext cx="11658600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50" b="1" i="0" u="none">
                <a:solidFill>
                  <a:srgbClr val="0F172A"/>
                </a:solidFill>
                <a:latin typeface="Plus Jakarta Sans"/>
              </a:rPr>
              <a:t>1. Даалгаврын зорилго ба өгөгдөл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33400" y="933450"/>
            <a:ext cx="111252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5076825"/>
            <a:ext cx="11125200" cy="4667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2038350"/>
            <a:ext cx="5448300" cy="28860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0300" y="2038350"/>
            <a:ext cx="5448300" cy="28860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63200" y="523875"/>
            <a:ext cx="1295400" cy="228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2000" y="5210175"/>
            <a:ext cx="10706100" cy="200025"/>
          </a:xfrm>
          <a:prstGeom prst="rect">
            <a:avLst/>
          </a:prstGeom>
          <a:noFill/>
        </p:spPr>
        <p:txBody>
          <a:bodyPr wrap="square" lIns="19050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334155"/>
                </a:solidFill>
                <a:latin typeface="Inter Medium"/>
              </a:rPr>
              <a:t>Behavioral болон Financial мэдээллийг нэгтгэн Final Model-д 33 feature ашигласан.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426" y="2276475"/>
            <a:ext cx="4894205" cy="2190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 i="0" u="none">
                <a:solidFill>
                  <a:srgbClr val="1E293B"/>
                </a:solidFill>
                <a:latin typeface="Plus Jakarta Sans"/>
              </a:rPr>
              <a:t>Behavioral Features — 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11701" y="2276475"/>
            <a:ext cx="4944211" cy="2190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 i="0" u="none">
                <a:solidFill>
                  <a:srgbClr val="1E293B"/>
                </a:solidFill>
                <a:latin typeface="Plus Jakarta Sans"/>
              </a:rPr>
              <a:t>Financial Features — 9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000" y="5248275"/>
            <a:ext cx="133350" cy="1333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1525" y="2300287"/>
            <a:ext cx="215651" cy="1714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62025" y="2609850"/>
            <a:ext cx="47815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334155"/>
                </a:solidFill>
                <a:latin typeface="Inter"/>
              </a:rPr>
              <a:t>Transaction activity: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trx_l7d, trx_l30d, trx_l60d, trx_l90d болон гүйлгээний дундаж хэмжээнүүд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2025" y="3105150"/>
            <a:ext cx="47815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334155"/>
                </a:solidFill>
                <a:latin typeface="Inter"/>
              </a:rPr>
              <a:t>Sessions: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sessions_l7d, sessions_l30d, sessions_l60d, sessions_l90d (Апп идэвхи)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2025" y="3600450"/>
            <a:ext cx="47815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334155"/>
                </a:solidFill>
                <a:latin typeface="Inter"/>
              </a:rPr>
              <a:t>Notification activity: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read_noti_l7d ... read_noti_l90d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2025" y="3895725"/>
            <a:ext cx="47815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334155"/>
                </a:solidFill>
                <a:latin typeface="Inter"/>
              </a:rPr>
              <a:t>App recency &amp; Tenure: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app_recency_days, user_tenure, profile_changed_since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2025" y="4391025"/>
            <a:ext cx="47815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334155"/>
                </a:solidFill>
                <a:latin typeface="Inter"/>
              </a:rPr>
              <a:t>Number change activity: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number_change_cnt, number_change_cnt_l90d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48425" y="2300287"/>
            <a:ext cx="168026" cy="1714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638925" y="2609850"/>
            <a:ext cx="47815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334155"/>
                </a:solidFill>
                <a:latin typeface="Inter"/>
              </a:rPr>
              <a:t>Balance &amp; Limit: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balance_dpd31, limit_dpd31, balance_ondue, limit_ondue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38925" y="2905125"/>
            <a:ext cx="47815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334155"/>
                </a:solidFill>
                <a:latin typeface="Inter"/>
              </a:rPr>
              <a:t>DPD-related features: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DPD-тэй холбоотой санхүүгийн түүхийн үзүүлэлтүүд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38925" y="3400425"/>
            <a:ext cx="47815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334155"/>
                </a:solidFill>
                <a:latin typeface="Inter"/>
              </a:rPr>
              <a:t>Unpaid amount: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invoiced_unpaid_amt, total_payment_amt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38925" y="3695700"/>
            <a:ext cx="47815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334155"/>
                </a:solidFill>
                <a:latin typeface="Inter"/>
              </a:rPr>
              <a:t>Ratio features: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balance_ondue_to_limit гэх мэт ашиглалтын харьцаанууд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1525" y="2609850"/>
            <a:ext cx="85725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050"/>
              </a:lnSpc>
            </a:pPr>
            <a:r>
              <a:rPr sz="1350" b="1" i="0" u="none">
                <a:solidFill>
                  <a:srgbClr val="2563EB"/>
                </a:solidFill>
                <a:latin typeface="Inter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1525" y="3105150"/>
            <a:ext cx="85725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050"/>
              </a:lnSpc>
            </a:pPr>
            <a:r>
              <a:rPr sz="1350" b="1" i="0" u="none">
                <a:solidFill>
                  <a:srgbClr val="2563EB"/>
                </a:solidFill>
                <a:latin typeface="Inter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1525" y="3600450"/>
            <a:ext cx="85725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050"/>
              </a:lnSpc>
            </a:pPr>
            <a:r>
              <a:rPr sz="1350" b="1" i="0" u="none">
                <a:solidFill>
                  <a:srgbClr val="2563EB"/>
                </a:solidFill>
                <a:latin typeface="Inter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1525" y="3895725"/>
            <a:ext cx="85725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050"/>
              </a:lnSpc>
            </a:pPr>
            <a:r>
              <a:rPr sz="1350" b="1" i="0" u="none">
                <a:solidFill>
                  <a:srgbClr val="2563EB"/>
                </a:solidFill>
                <a:latin typeface="Inter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1525" y="4391025"/>
            <a:ext cx="85725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050"/>
              </a:lnSpc>
            </a:pPr>
            <a:r>
              <a:rPr sz="1350" b="1" i="0" u="none">
                <a:solidFill>
                  <a:srgbClr val="2563EB"/>
                </a:solidFill>
                <a:latin typeface="Inter"/>
              </a:rP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8425" y="2609850"/>
            <a:ext cx="85725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050"/>
              </a:lnSpc>
            </a:pPr>
            <a:r>
              <a:rPr sz="1350" b="1" i="0" u="none">
                <a:solidFill>
                  <a:srgbClr val="2563EB"/>
                </a:solidFill>
                <a:latin typeface="Inter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8425" y="2905125"/>
            <a:ext cx="85725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050"/>
              </a:lnSpc>
            </a:pPr>
            <a:r>
              <a:rPr sz="1350" b="1" i="0" u="none">
                <a:solidFill>
                  <a:srgbClr val="2563EB"/>
                </a:solidFill>
                <a:latin typeface="Inter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8425" y="3400425"/>
            <a:ext cx="85725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050"/>
              </a:lnSpc>
            </a:pPr>
            <a:r>
              <a:rPr sz="1350" b="1" i="0" u="none">
                <a:solidFill>
                  <a:srgbClr val="2563EB"/>
                </a:solidFill>
                <a:latin typeface="Inter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8425" y="3695700"/>
            <a:ext cx="85725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050"/>
              </a:lnSpc>
            </a:pPr>
            <a:r>
              <a:rPr sz="1350" b="1" i="0" u="none">
                <a:solidFill>
                  <a:srgbClr val="2563EB"/>
                </a:solidFill>
                <a:latin typeface="Inter"/>
              </a:rPr>
              <a:t>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3400" y="457200"/>
            <a:ext cx="11658600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50" b="1" i="0" u="none">
                <a:solidFill>
                  <a:srgbClr val="0F172A"/>
                </a:solidFill>
                <a:latin typeface="Plus Jakarta Sans"/>
              </a:rPr>
              <a:t>2. Өгөгдөл ба Feature Engineering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33400" y="933450"/>
            <a:ext cx="111252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2047875"/>
            <a:ext cx="11125200" cy="28670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5067300"/>
            <a:ext cx="11125200" cy="4667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34675" y="523875"/>
            <a:ext cx="923925" cy="22860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2925" y="2057400"/>
          <a:ext cx="11106148" cy="28479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58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146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223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0460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687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4662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475569"/>
                          </a:solidFill>
                          <a:latin typeface="Inter"/>
                        </a:rPr>
                        <a:t>Model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475569"/>
                          </a:solidFill>
                          <a:latin typeface="Inter"/>
                        </a:rPr>
                        <a:t>Features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475569"/>
                          </a:solidFill>
                          <a:latin typeface="Inter"/>
                        </a:rPr>
                        <a:t>Test ROC-AUC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475569"/>
                          </a:solidFill>
                          <a:latin typeface="Inter"/>
                        </a:rPr>
                        <a:t>Test PR-AUC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475569"/>
                          </a:solidFill>
                          <a:latin typeface="Inter"/>
                        </a:rPr>
                        <a:t>Төлөв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4662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1D4ED8"/>
                          </a:solidFill>
                          <a:latin typeface="Inter"/>
                        </a:rPr>
                        <a:t>XGBoost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1D4ED8"/>
                          </a:solidFill>
                          <a:latin typeface="Inter SemiBold"/>
                        </a:rPr>
                        <a:t>33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1D4ED8"/>
                          </a:solidFill>
                          <a:latin typeface="Inter"/>
                        </a:rPr>
                        <a:t>0.6175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1D4ED8"/>
                          </a:solidFill>
                          <a:latin typeface="Inter"/>
                        </a:rPr>
                        <a:t>0.3875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Inter SemiBold"/>
                        </a:rPr>
                        <a:t>Сонгогдсон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4662"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Inter"/>
                        </a:rPr>
                        <a:t>LightGBM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Inter"/>
                        </a:rPr>
                        <a:t>33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Inter"/>
                        </a:rPr>
                        <a:t>0.6145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Inter"/>
                        </a:rPr>
                        <a:t>0.3744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Inter"/>
                        </a:rPr>
                        <a:t>Туршигдсан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4662"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Inter"/>
                        </a:rPr>
                        <a:t>MLP Top 33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Inter"/>
                        </a:rPr>
                        <a:t>33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Inter"/>
                        </a:rPr>
                        <a:t>0.6052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Inter"/>
                        </a:rPr>
                        <a:t>0.3730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Inter"/>
                        </a:rPr>
                        <a:t>Туршигдсан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4662"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Inter"/>
                        </a:rPr>
                        <a:t>MLP Top 20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Inter"/>
                        </a:rPr>
                        <a:t>20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Inter"/>
                        </a:rPr>
                        <a:t>0.5980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Inter"/>
                        </a:rPr>
                        <a:t>0.3641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Inter"/>
                        </a:rPr>
                        <a:t>Туршигдсан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4665"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Inter"/>
                        </a:rPr>
                        <a:t>MLP Top 10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Inter"/>
                        </a:rPr>
                        <a:t>10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Inter"/>
                        </a:rPr>
                        <a:t>0.5976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Inter"/>
                        </a:rPr>
                        <a:t>0.3647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Inter"/>
                        </a:rPr>
                        <a:t>Туршигдсан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62000" y="5200650"/>
            <a:ext cx="107061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0F172A"/>
                </a:solidFill>
                <a:latin typeface="Inter"/>
              </a:rPr>
              <a:t>Дүгнэлт:</a:t>
            </a:r>
            <a:r>
              <a:rPr sz="1050" b="0" i="0" u="none">
                <a:solidFill>
                  <a:srgbClr val="334155"/>
                </a:solidFill>
                <a:latin typeface="Inter Medium"/>
              </a:rPr>
              <a:t> Туршсан загваруудаас XGBoost нь Test ROC-AUC болон Test PR-AUC-ийн хувьд хамгийн өндөр үр дүн үзүүлсэн.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2925" y="2519362"/>
            <a:ext cx="219581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738735" y="2519362"/>
            <a:ext cx="181466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53396" y="2519362"/>
            <a:ext cx="252233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075735" y="2519362"/>
            <a:ext cx="230460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380339" y="2519362"/>
            <a:ext cx="226873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42925" y="2995612"/>
            <a:ext cx="219581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738735" y="2995612"/>
            <a:ext cx="1814661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553396" y="2995612"/>
            <a:ext cx="2522339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075735" y="2995612"/>
            <a:ext cx="2304603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9380339" y="2995612"/>
            <a:ext cx="2268735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42925" y="3471862"/>
            <a:ext cx="219581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738735" y="3471862"/>
            <a:ext cx="1814661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553396" y="3471862"/>
            <a:ext cx="2522339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075735" y="3471862"/>
            <a:ext cx="2304603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380339" y="3471862"/>
            <a:ext cx="2268735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42925" y="3948112"/>
            <a:ext cx="219581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2738735" y="3948112"/>
            <a:ext cx="1814661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553396" y="3948112"/>
            <a:ext cx="2522339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075735" y="3948112"/>
            <a:ext cx="2304603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380339" y="3948112"/>
            <a:ext cx="2268735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42925" y="4424362"/>
            <a:ext cx="219581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2738735" y="4424362"/>
            <a:ext cx="1814661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553396" y="4424362"/>
            <a:ext cx="2522339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075735" y="4424362"/>
            <a:ext cx="2304603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380339" y="4424362"/>
            <a:ext cx="2268735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70839" y="2686050"/>
            <a:ext cx="809625" cy="180975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3400" y="457200"/>
            <a:ext cx="11658600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50" b="1" i="0" u="none">
                <a:solidFill>
                  <a:srgbClr val="0F172A"/>
                </a:solidFill>
                <a:latin typeface="Plus Jakarta Sans"/>
              </a:rPr>
              <a:t>3. Model сонголт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33400" y="933450"/>
            <a:ext cx="111252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2366962"/>
            <a:ext cx="2638425" cy="10096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2325" y="2366962"/>
            <a:ext cx="2638425" cy="10096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1250" y="2366962"/>
            <a:ext cx="2638425" cy="10096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20175" y="2366962"/>
            <a:ext cx="2638425" cy="10096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400" y="3605212"/>
            <a:ext cx="5448300" cy="16097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10300" y="3605212"/>
            <a:ext cx="5448300" cy="16097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48900" y="523875"/>
            <a:ext cx="1409700" cy="228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3425" y="2566987"/>
            <a:ext cx="2238375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Inter SemiBold"/>
              </a:rPr>
              <a:t>Validation ROC-AUC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425" y="2728912"/>
            <a:ext cx="2238375" cy="4095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0" i="0" u="none">
                <a:solidFill>
                  <a:srgbClr val="1E3A8A"/>
                </a:solidFill>
                <a:latin typeface="Plus Jakarta Sans ExtraBold"/>
              </a:rPr>
              <a:t>0.6288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2350" y="2566987"/>
            <a:ext cx="2238375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Inter SemiBold"/>
              </a:rPr>
              <a:t>Validation PR-AUC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2350" y="2728912"/>
            <a:ext cx="2238375" cy="4095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0" i="0" u="none">
                <a:solidFill>
                  <a:srgbClr val="1E3A8A"/>
                </a:solidFill>
                <a:latin typeface="Plus Jakarta Sans ExtraBold"/>
              </a:rPr>
              <a:t>0.4322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91275" y="2566987"/>
            <a:ext cx="2238375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Inter SemiBold"/>
              </a:rPr>
              <a:t>Test ROC-AUC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91275" y="2728912"/>
            <a:ext cx="2238375" cy="4095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0" i="0" u="none">
                <a:solidFill>
                  <a:srgbClr val="2563EB"/>
                </a:solidFill>
                <a:latin typeface="Plus Jakarta Sans ExtraBold"/>
              </a:rPr>
              <a:t>0.6175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20200" y="2566987"/>
            <a:ext cx="2238375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Inter SemiBold"/>
              </a:rPr>
              <a:t>Test PR-AUC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20200" y="2728912"/>
            <a:ext cx="2238375" cy="4095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0" i="0" u="none">
                <a:solidFill>
                  <a:srgbClr val="2563EB"/>
                </a:solidFill>
                <a:latin typeface="Plus Jakarta Sans ExtraBold"/>
              </a:rPr>
              <a:t>0.3875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3851" y="3843337"/>
            <a:ext cx="4924209" cy="2190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 i="0" u="none">
                <a:solidFill>
                  <a:srgbClr val="1E293B"/>
                </a:solidFill>
                <a:latin typeface="Plus Jakarta Sans"/>
              </a:rPr>
              <a:t>Baseline Context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1525" y="4176712"/>
            <a:ext cx="49720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Inter"/>
              </a:rPr>
              <a:t>Test baseline positive rate:</a:t>
            </a:r>
            <a:r>
              <a:rPr sz="1200" b="0" i="0" u="none">
                <a:solidFill>
                  <a:srgbClr val="334155"/>
                </a:solidFill>
                <a:latin typeface="Inter"/>
              </a:rPr>
              <a:t> </a:t>
            </a:r>
            <a:r>
              <a:rPr sz="1200" b="1" i="0" u="none">
                <a:solidFill>
                  <a:srgbClr val="2563EB"/>
                </a:solidFill>
                <a:latin typeface="Inter"/>
              </a:rPr>
              <a:t>28.59%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1525" y="4481512"/>
            <a:ext cx="497205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334155"/>
                </a:solidFill>
                <a:latin typeface="Inter"/>
              </a:rPr>
              <a:t>Class imbalance бүхий өгөгдөл дээр PR-AUC metric нь ROC-AUC-аас илүү бодит мэдээлэл өгдөг.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11701" y="3843337"/>
            <a:ext cx="4944211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 i="0" u="none">
                <a:solidFill>
                  <a:srgbClr val="1E293B"/>
                </a:solidFill>
                <a:latin typeface="Plus Jakarta Sans"/>
              </a:rPr>
              <a:t>Performance Ажиглалт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1525" y="3867150"/>
            <a:ext cx="187076" cy="17145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48425" y="3871912"/>
            <a:ext cx="168026" cy="17145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638925" y="4186237"/>
            <a:ext cx="47815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334155"/>
                </a:solidFill>
                <a:latin typeface="Inter"/>
              </a:rPr>
              <a:t>Validation-ээс Test рүү performance бага зэрэг буурсан боловч model нь risk ranking хийх тодорхой чадвартай байна.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38925" y="4681537"/>
            <a:ext cx="47815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334155"/>
                </a:solidFill>
                <a:latin typeface="Inter"/>
              </a:rPr>
              <a:t>Model-ийн probability нь бүрэн calibrated probability гэж үзээгүй.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8425" y="4186237"/>
            <a:ext cx="85725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050"/>
              </a:lnSpc>
            </a:pPr>
            <a:r>
              <a:rPr sz="1350" b="1" i="0" u="none">
                <a:solidFill>
                  <a:srgbClr val="2563EB"/>
                </a:solidFill>
                <a:latin typeface="Inter"/>
              </a:rP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8425" y="4681537"/>
            <a:ext cx="85725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050"/>
              </a:lnSpc>
            </a:pPr>
            <a:r>
              <a:rPr sz="1350" b="1" i="0" u="none">
                <a:solidFill>
                  <a:srgbClr val="2563EB"/>
                </a:solidFill>
                <a:latin typeface="Inter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3400" y="457200"/>
            <a:ext cx="11658600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50" b="1" i="0" u="none">
                <a:solidFill>
                  <a:srgbClr val="0F172A"/>
                </a:solidFill>
                <a:latin typeface="Plus Jakarta Sans"/>
              </a:rPr>
              <a:t>4. Final XGBoost-ийн үр дүн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33400" y="933450"/>
            <a:ext cx="111252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1857375"/>
            <a:ext cx="11125200" cy="28670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5029200"/>
            <a:ext cx="11125200" cy="6953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29875" y="523875"/>
            <a:ext cx="1228725" cy="22860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2925" y="1866900"/>
          <a:ext cx="11106148" cy="28479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76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47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92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14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4662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475569"/>
                          </a:solidFill>
                          <a:latin typeface="Inter"/>
                        </a:rPr>
                        <a:t>Segment (Decile)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475569"/>
                          </a:solidFill>
                          <a:latin typeface="Inter"/>
                        </a:rPr>
                        <a:t>Actual Positive Rate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475569"/>
                          </a:solidFill>
                          <a:latin typeface="Inter"/>
                        </a:rPr>
                        <a:t>Lift vs Baseline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475569"/>
                          </a:solidFill>
                          <a:latin typeface="Inter"/>
                        </a:rPr>
                        <a:t>Positive Capture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4662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1D4ED8"/>
                          </a:solidFill>
                          <a:latin typeface="Inter"/>
                        </a:rPr>
                        <a:t>Top 10%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1D4ED8"/>
                          </a:solidFill>
                          <a:latin typeface="Inter"/>
                        </a:rPr>
                        <a:t>46.01%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1D4ED8"/>
                          </a:solidFill>
                          <a:latin typeface="Inter"/>
                        </a:rPr>
                        <a:t>1.61x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1D4ED8"/>
                          </a:solidFill>
                          <a:latin typeface="Inter"/>
                        </a:rPr>
                        <a:t>16.08%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4662"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Inter"/>
                        </a:rPr>
                        <a:t>Top 20%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Inter"/>
                        </a:rPr>
                        <a:t>40.70%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Inter"/>
                        </a:rPr>
                        <a:t>1.42x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Inter"/>
                        </a:rPr>
                        <a:t>28.47%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4662"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Inter"/>
                        </a:rPr>
                        <a:t>Top 30%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Inter"/>
                        </a:rPr>
                        <a:t>37.74%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Inter"/>
                        </a:rPr>
                        <a:t>1.32x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Inter"/>
                        </a:rPr>
                        <a:t>39.60%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4662"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Inter"/>
                        </a:rPr>
                        <a:t>Top 40%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Inter"/>
                        </a:rPr>
                        <a:t>36.76%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Inter"/>
                        </a:rPr>
                        <a:t>1.29x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Inter"/>
                        </a:rPr>
                        <a:t>51.44%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4665"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Inter"/>
                        </a:rPr>
                        <a:t>Top 50%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Inter"/>
                        </a:rPr>
                        <a:t>35.24%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Inter"/>
                        </a:rPr>
                        <a:t>1.23x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Inter"/>
                        </a:rPr>
                        <a:t>61.62%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62000" y="5162550"/>
            <a:ext cx="10706100" cy="428625"/>
          </a:xfrm>
          <a:prstGeom prst="rect">
            <a:avLst/>
          </a:prstGeom>
          <a:noFill/>
        </p:spPr>
        <p:txBody>
          <a:bodyPr wrap="square" lIns="200025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0F172A"/>
                </a:solidFill>
                <a:latin typeface="Inter"/>
              </a:rPr>
              <a:t>Гол Insight:</a:t>
            </a:r>
            <a:r>
              <a:rPr sz="1125" b="0" i="0" u="none">
                <a:solidFill>
                  <a:srgbClr val="1E3A8A"/>
                </a:solidFill>
                <a:latin typeface="Inter Medium"/>
              </a:rPr>
              <a:t> Risk Score-оор эрэмбэлэхэд Top 10% хэрэглэгчдийн actual positive rate </a:t>
            </a:r>
            <a:r>
              <a:rPr sz="1125" b="1" i="0" u="none">
                <a:solidFill>
                  <a:srgbClr val="0F172A"/>
                </a:solidFill>
                <a:latin typeface="Inter"/>
              </a:rPr>
              <a:t>46.01%</a:t>
            </a:r>
            <a:r>
              <a:rPr sz="1125" b="0" i="0" u="none">
                <a:solidFill>
                  <a:srgbClr val="1E3A8A"/>
                </a:solidFill>
                <a:latin typeface="Inter Medium"/>
              </a:rPr>
              <a:t> байсан нь нийт baseline (28.59%)-аас </a:t>
            </a:r>
            <a:r>
              <a:rPr sz="1125" b="1" i="0" u="none">
                <a:solidFill>
                  <a:srgbClr val="0F172A"/>
                </a:solidFill>
                <a:latin typeface="Inter"/>
              </a:rPr>
              <a:t>1.61x өндөр</a:t>
            </a:r>
            <a:r>
              <a:rPr sz="1125" b="0" i="0" u="none">
                <a:solidFill>
                  <a:srgbClr val="1E3A8A"/>
                </a:solidFill>
                <a:latin typeface="Inter Medium"/>
              </a:rPr>
              <a:t> байна.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2925" y="2328862"/>
            <a:ext cx="276760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310532" y="2328862"/>
            <a:ext cx="310470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15236" y="2328862"/>
            <a:ext cx="251921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934450" y="2328862"/>
            <a:ext cx="271462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" y="5191125"/>
            <a:ext cx="142875" cy="142875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542925" y="2805112"/>
            <a:ext cx="2767607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310532" y="2805112"/>
            <a:ext cx="3104703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415236" y="2805112"/>
            <a:ext cx="2519213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934450" y="2805112"/>
            <a:ext cx="2714625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42925" y="3281362"/>
            <a:ext cx="2767607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310532" y="3281362"/>
            <a:ext cx="3104703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415236" y="3281362"/>
            <a:ext cx="2519213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934450" y="3281362"/>
            <a:ext cx="2714625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42925" y="3757612"/>
            <a:ext cx="2767607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310532" y="3757612"/>
            <a:ext cx="3104703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415236" y="3757612"/>
            <a:ext cx="2519213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934450" y="3757612"/>
            <a:ext cx="2714625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42925" y="4233862"/>
            <a:ext cx="2767607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310532" y="4233862"/>
            <a:ext cx="3104703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415236" y="4233862"/>
            <a:ext cx="2519213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934450" y="4233862"/>
            <a:ext cx="2714625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33400" y="457200"/>
            <a:ext cx="11658600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50" b="1" i="0" u="none">
                <a:solidFill>
                  <a:srgbClr val="0F172A"/>
                </a:solidFill>
                <a:latin typeface="Plus Jakarta Sans"/>
              </a:rPr>
              <a:t>5. Risk Ranking ба Lift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33400" y="933450"/>
            <a:ext cx="111252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5110162"/>
            <a:ext cx="11125200" cy="6572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1181100"/>
            <a:ext cx="11125200" cy="52197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96550" y="523875"/>
            <a:ext cx="1162050" cy="228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33400" y="457200"/>
            <a:ext cx="11658600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50" b="1" i="0" u="none">
                <a:solidFill>
                  <a:srgbClr val="0F172A"/>
                </a:solidFill>
                <a:latin typeface="Plus Jakarta Sans"/>
              </a:rPr>
              <a:t>6. Model-д хамгийн их нөлөөлсөн Feature-үүд</a:t>
            </a:r>
          </a:p>
        </p:txBody>
      </p:sp>
      <p:sp>
        <p:nvSpPr>
          <p:cNvPr id="9" name="Rectangle 8"/>
          <p:cNvSpPr/>
          <p:nvPr/>
        </p:nvSpPr>
        <p:spPr>
          <a:xfrm>
            <a:off x="533400" y="933450"/>
            <a:ext cx="111252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4176712"/>
            <a:ext cx="11125200" cy="10668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2757487"/>
            <a:ext cx="2638425" cy="11906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62325" y="2757487"/>
            <a:ext cx="2638425" cy="11906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1250" y="2757487"/>
            <a:ext cx="2638425" cy="11906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20175" y="2757487"/>
            <a:ext cx="2638425" cy="11906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25150" y="523875"/>
            <a:ext cx="933450" cy="228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33400" y="2338387"/>
            <a:ext cx="1112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0F172A"/>
                </a:solidFill>
                <a:latin typeface="Inter SemiBold"/>
              </a:rPr>
              <a:t>Final prediction dataset: </a:t>
            </a:r>
            <a:r>
              <a:rPr sz="1200" b="0" i="0" u="none">
                <a:solidFill>
                  <a:srgbClr val="0F172A"/>
                </a:solidFill>
                <a:latin typeface="Inter Black"/>
              </a:rPr>
              <a:t>8,463 хэрэглэгч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3425" y="2986087"/>
            <a:ext cx="2238375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Inter SemiBold"/>
              </a:rPr>
              <a:t>Top 10% — High Risk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425" y="3148012"/>
            <a:ext cx="2238375" cy="4095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0" i="0" u="none">
                <a:solidFill>
                  <a:srgbClr val="DC2626"/>
                </a:solidFill>
                <a:latin typeface="Plus Jakarta Sans ExtraBold"/>
              </a:rPr>
              <a:t>846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425" y="3595687"/>
            <a:ext cx="22383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Inter"/>
              </a:rPr>
              <a:t>Avg Risk Score: </a:t>
            </a:r>
            <a:r>
              <a:rPr sz="975" b="1" i="0" u="none">
                <a:solidFill>
                  <a:srgbClr val="64748B"/>
                </a:solidFill>
                <a:latin typeface="Inter"/>
              </a:rPr>
              <a:t>0.4502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2350" y="2986087"/>
            <a:ext cx="2238375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Inter SemiBold"/>
              </a:rPr>
              <a:t>10–20% — High-Med Risk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2350" y="3148012"/>
            <a:ext cx="2238375" cy="4095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0" i="0" u="none">
                <a:solidFill>
                  <a:srgbClr val="EA580C"/>
                </a:solidFill>
                <a:latin typeface="Plus Jakarta Sans ExtraBold"/>
              </a:rPr>
              <a:t>846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2350" y="3595687"/>
            <a:ext cx="22383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Inter"/>
              </a:rPr>
              <a:t>Avg Risk Score: </a:t>
            </a:r>
            <a:r>
              <a:rPr sz="975" b="1" i="0" u="none">
                <a:solidFill>
                  <a:srgbClr val="64748B"/>
                </a:solidFill>
                <a:latin typeface="Inter"/>
              </a:rPr>
              <a:t>0.4193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91275" y="2986087"/>
            <a:ext cx="2238375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Inter SemiBold"/>
              </a:rPr>
              <a:t>20–30% — Medium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91275" y="3148012"/>
            <a:ext cx="2238375" cy="4095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0" i="0" u="none">
                <a:solidFill>
                  <a:srgbClr val="CA8A04"/>
                </a:solidFill>
                <a:latin typeface="Plus Jakarta Sans ExtraBold"/>
              </a:rPr>
              <a:t>846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91275" y="3595687"/>
            <a:ext cx="22383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Inter"/>
              </a:rPr>
              <a:t>Avg Risk Score: </a:t>
            </a:r>
            <a:r>
              <a:rPr sz="975" b="1" i="0" u="none">
                <a:solidFill>
                  <a:srgbClr val="64748B"/>
                </a:solidFill>
                <a:latin typeface="Inter"/>
              </a:rPr>
              <a:t>0.3988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20200" y="2986087"/>
            <a:ext cx="2238375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Inter SemiBold"/>
              </a:rPr>
              <a:t>Bottom 70% — Lower Risk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20200" y="3148012"/>
            <a:ext cx="2238375" cy="4095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0" i="0" u="none">
                <a:solidFill>
                  <a:srgbClr val="16A34A"/>
                </a:solidFill>
                <a:latin typeface="Plus Jakarta Sans ExtraBold"/>
              </a:rPr>
              <a:t>5,925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20200" y="3595687"/>
            <a:ext cx="22383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Inter"/>
              </a:rPr>
              <a:t>Avg Risk Score: </a:t>
            </a:r>
            <a:r>
              <a:rPr sz="975" b="1" i="0" u="none">
                <a:solidFill>
                  <a:srgbClr val="64748B"/>
                </a:solidFill>
                <a:latin typeface="Inter"/>
              </a:rPr>
              <a:t>0.3123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2025" y="4414837"/>
            <a:ext cx="104584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334155"/>
                </a:solidFill>
                <a:latin typeface="Inter"/>
              </a:rPr>
              <a:t>Final output нь хэрэглэгч бүрийн Risk Score, Risk Rank болон Risk Segment-ийг агуулсан.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2025" y="4710112"/>
            <a:ext cx="104584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334155"/>
                </a:solidFill>
                <a:latin typeface="Inter"/>
              </a:rPr>
              <a:t>Risk Score-ийг absolute probability гэхээсээ илүү relative ranking signal хэлбэрээр ашиглах нь тохиромжтой.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1525" y="4414837"/>
            <a:ext cx="85725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050"/>
              </a:lnSpc>
            </a:pPr>
            <a:r>
              <a:rPr sz="1350" b="1" i="0" u="none">
                <a:solidFill>
                  <a:srgbClr val="2563EB"/>
                </a:solidFill>
                <a:latin typeface="Inter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1525" y="4710112"/>
            <a:ext cx="85725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050"/>
              </a:lnSpc>
            </a:pPr>
            <a:r>
              <a:rPr sz="1350" b="1" i="0" u="none">
                <a:solidFill>
                  <a:srgbClr val="2563EB"/>
                </a:solidFill>
                <a:latin typeface="Inter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3400" y="457200"/>
            <a:ext cx="11658600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50" b="1" i="0" u="none">
                <a:solidFill>
                  <a:srgbClr val="0F172A"/>
                </a:solidFill>
                <a:latin typeface="Plus Jakarta Sans"/>
              </a:rPr>
              <a:t>7. Final Prediction ба Risk Segmentation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33400" y="933450"/>
            <a:ext cx="111252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4981575"/>
            <a:ext cx="11125200" cy="666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1933575"/>
            <a:ext cx="3581400" cy="27051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05300" y="1933575"/>
            <a:ext cx="3581400" cy="27051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77200" y="1933575"/>
            <a:ext cx="3581400" cy="27051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58500" y="523875"/>
            <a:ext cx="800100" cy="228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2000" y="5114925"/>
            <a:ext cx="107061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sz="1050" b="0" i="0" u="none">
                <a:solidFill>
                  <a:srgbClr val="334155"/>
                </a:solidFill>
                <a:latin typeface="Inter Medium"/>
              </a:rPr>
              <a:t>"Энэхүү даалгаврын хүрээнд XGBoost ашиглан өндөр эрсдэлтэй хэрэглэгчдийг Risk Score-оор эрэмбэлэх боломжийг харуулсан бөгөөд цаашид validation, calibration болон explainability чиглэлээр сайжруулах боломжтой."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801" y="2171700"/>
            <a:ext cx="2983966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 i="0" u="none">
                <a:solidFill>
                  <a:srgbClr val="1E293B"/>
                </a:solidFill>
                <a:latin typeface="Plus Jakarta Sans"/>
              </a:rPr>
              <a:t>Гол үр дүн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6701" y="2171700"/>
            <a:ext cx="2983966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 i="0" u="none">
                <a:solidFill>
                  <a:srgbClr val="1E293B"/>
                </a:solidFill>
                <a:latin typeface="Plus Jakarta Sans"/>
              </a:rPr>
              <a:t>Ажиглалт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78601" y="2171700"/>
            <a:ext cx="2983966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 i="0" u="none">
                <a:solidFill>
                  <a:srgbClr val="1E293B"/>
                </a:solidFill>
                <a:latin typeface="Plus Jakarta Sans"/>
              </a:rPr>
              <a:t>Цаашид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1525" y="2200275"/>
            <a:ext cx="168026" cy="1714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62025" y="2514600"/>
            <a:ext cx="29146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334155"/>
                </a:solidFill>
                <a:latin typeface="Inter"/>
              </a:rPr>
              <a:t>XGBoost хамгийн сайн Test performance үзүүлсэн.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2025" y="3009900"/>
            <a:ext cx="29146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334155"/>
                </a:solidFill>
                <a:latin typeface="Inter"/>
              </a:rPr>
              <a:t>Test ROC-AUC: 0.6175, PR-AUC: 0.3875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2025" y="3305175"/>
            <a:ext cx="29146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334155"/>
                </a:solidFill>
                <a:latin typeface="Inter"/>
              </a:rPr>
              <a:t>Top 10% segment 1.61x Lift үзүүлсэн.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2025" y="3600450"/>
            <a:ext cx="29146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334155"/>
                </a:solidFill>
                <a:latin typeface="Inter"/>
              </a:rPr>
              <a:t>8,463 хэрэглэгчид Risk Score болон Risk Segment үүсгэсэн.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43425" y="2200275"/>
            <a:ext cx="168026" cy="1714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733925" y="2514600"/>
            <a:ext cx="29146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334155"/>
                </a:solidFill>
                <a:latin typeface="Inter"/>
              </a:rPr>
              <a:t>Behavioral болон Financial feature-үүд хоёул ашиглагдсан.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33925" y="3009900"/>
            <a:ext cx="29146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334155"/>
                </a:solidFill>
                <a:latin typeface="Inter"/>
              </a:rPr>
              <a:t>Validation болон Test performance хооронд бага хэмжээний зөрүү байна.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33925" y="3505200"/>
            <a:ext cx="2914650" cy="800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334155"/>
                </a:solidFill>
                <a:latin typeface="Inter"/>
              </a:rPr>
              <a:t>Credit-level overlap байгаа тул Test performance-ийг бүрэн unseen-credit generalization гэж тайлбарлахад болгоомжтой хандах шаардлагатай.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15325" y="2200275"/>
            <a:ext cx="168026" cy="17145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8505825" y="2514600"/>
            <a:ext cx="29146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334155"/>
                </a:solidFill>
                <a:latin typeface="Inter"/>
              </a:rPr>
              <a:t>Temporal / credit-level validation-ийг сайжруулах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5825" y="3009900"/>
            <a:ext cx="29146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334155"/>
                </a:solidFill>
                <a:latin typeface="Inter"/>
              </a:rPr>
              <a:t>Probability calibration хийх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5825" y="3305175"/>
            <a:ext cx="29146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334155"/>
                </a:solidFill>
                <a:latin typeface="Inter"/>
              </a:rPr>
              <a:t>SHAP зэрэг explainability арга ашиглах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5825" y="3600450"/>
            <a:ext cx="29146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334155"/>
                </a:solidFill>
                <a:latin typeface="Inter"/>
              </a:rPr>
              <a:t>Threshold болон business cost дээр тулгуурласан decision rule боловсруулах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1525" y="2514600"/>
            <a:ext cx="85725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050"/>
              </a:lnSpc>
            </a:pPr>
            <a:r>
              <a:rPr sz="1350" b="1" i="0" u="none">
                <a:solidFill>
                  <a:srgbClr val="2563EB"/>
                </a:solidFill>
                <a:latin typeface="Inter"/>
              </a:rP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1525" y="3009900"/>
            <a:ext cx="85725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050"/>
              </a:lnSpc>
            </a:pPr>
            <a:r>
              <a:rPr sz="1350" b="1" i="0" u="none">
                <a:solidFill>
                  <a:srgbClr val="2563EB"/>
                </a:solidFill>
                <a:latin typeface="Inter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1525" y="3305175"/>
            <a:ext cx="85725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050"/>
              </a:lnSpc>
            </a:pPr>
            <a:r>
              <a:rPr sz="1350" b="1" i="0" u="none">
                <a:solidFill>
                  <a:srgbClr val="2563EB"/>
                </a:solidFill>
                <a:latin typeface="Inter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1525" y="3600450"/>
            <a:ext cx="85725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050"/>
              </a:lnSpc>
            </a:pPr>
            <a:r>
              <a:rPr sz="1350" b="1" i="0" u="none">
                <a:solidFill>
                  <a:srgbClr val="2563EB"/>
                </a:solidFill>
                <a:latin typeface="Inter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43425" y="2514600"/>
            <a:ext cx="85725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050"/>
              </a:lnSpc>
            </a:pPr>
            <a:r>
              <a:rPr sz="1350" b="1" i="0" u="none">
                <a:solidFill>
                  <a:srgbClr val="2563EB"/>
                </a:solidFill>
                <a:latin typeface="Inter"/>
              </a:rPr>
              <a:t>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43425" y="3009900"/>
            <a:ext cx="85725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050"/>
              </a:lnSpc>
            </a:pPr>
            <a:r>
              <a:rPr sz="1350" b="1" i="0" u="none">
                <a:solidFill>
                  <a:srgbClr val="2563EB"/>
                </a:solidFill>
                <a:latin typeface="Inter"/>
              </a:rPr>
              <a:t>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43425" y="3505200"/>
            <a:ext cx="85725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050"/>
              </a:lnSpc>
            </a:pPr>
            <a:r>
              <a:rPr sz="1350" b="1" i="0" u="none">
                <a:solidFill>
                  <a:srgbClr val="2563EB"/>
                </a:solidFill>
                <a:latin typeface="Inter"/>
              </a:rPr>
              <a:t>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15325" y="2514600"/>
            <a:ext cx="85725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050"/>
              </a:lnSpc>
            </a:pPr>
            <a:r>
              <a:rPr sz="1350" b="1" i="0" u="none">
                <a:solidFill>
                  <a:srgbClr val="2563EB"/>
                </a:solidFill>
                <a:latin typeface="Inter"/>
              </a:rPr>
              <a:t>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15325" y="3009900"/>
            <a:ext cx="85725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050"/>
              </a:lnSpc>
            </a:pPr>
            <a:r>
              <a:rPr sz="1350" b="1" i="0" u="none">
                <a:solidFill>
                  <a:srgbClr val="2563EB"/>
                </a:solidFill>
                <a:latin typeface="Inter"/>
              </a:rPr>
              <a:t>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15325" y="3305175"/>
            <a:ext cx="85725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050"/>
              </a:lnSpc>
            </a:pPr>
            <a:r>
              <a:rPr sz="1350" b="1" i="0" u="none">
                <a:solidFill>
                  <a:srgbClr val="2563EB"/>
                </a:solidFill>
                <a:latin typeface="Inter"/>
              </a:rPr>
              <a:t>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15325" y="3600450"/>
            <a:ext cx="85725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050"/>
              </a:lnSpc>
            </a:pPr>
            <a:r>
              <a:rPr sz="1350" b="1" i="0" u="none">
                <a:solidFill>
                  <a:srgbClr val="2563EB"/>
                </a:solidFill>
                <a:latin typeface="Inter"/>
              </a:rPr>
              <a:t>•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3400" y="457200"/>
            <a:ext cx="11658600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50" b="1" i="0" u="none">
                <a:solidFill>
                  <a:srgbClr val="0F172A"/>
                </a:solidFill>
                <a:latin typeface="Plus Jakarta Sans"/>
              </a:rPr>
              <a:t>8. Дүгнэлт ба цаашдын сайжруулалт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33400" y="933450"/>
            <a:ext cx="111252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708</Words>
  <Application>Microsoft Office PowerPoint</Application>
  <PresentationFormat>Widescreen</PresentationFormat>
  <Paragraphs>161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9" baseType="lpstr">
      <vt:lpstr>Arial</vt:lpstr>
      <vt:lpstr>Calibri</vt:lpstr>
      <vt:lpstr>Inter</vt:lpstr>
      <vt:lpstr>Inter Black</vt:lpstr>
      <vt:lpstr>Inter Medium</vt:lpstr>
      <vt:lpstr>Inter SemiBold</vt:lpstr>
      <vt:lpstr>Plus Jakarta Sans</vt:lpstr>
      <vt:lpstr>Plus Jakarta Sans ExtraBold</vt:lpstr>
      <vt:lpstr>Plus Jakarta 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Khishigjargal Gantulga</dc:creator>
  <cp:keywords/>
  <dc:description>generated using python-pptx</dc:description>
  <cp:lastModifiedBy>KHISHIGJARGAL Gantulga</cp:lastModifiedBy>
  <cp:revision>2</cp:revision>
  <dcterms:created xsi:type="dcterms:W3CDTF">2013-01-27T09:14:16Z</dcterms:created>
  <dcterms:modified xsi:type="dcterms:W3CDTF">2026-08-13T15:55:46Z</dcterms:modified>
  <cp:category/>
</cp:coreProperties>
</file>