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0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8288000" cy="10287000"/>
  <p:notesSz cx="10287000" cy="1828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36" d="100"/>
          <a:sy n="36" d="100"/>
        </p:scale>
        <p:origin x="1762" y="73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689411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Гол зорилго: DPD31 болсон зээлүүдээс аль нь цааш DPD91+ болох эрсдэлтэйг урьдчилан таамаглаж, эрсдэлийн дарааллаар эрэмбэлэх. Prediction point бол date_dpd_31, target бол is_dpd_91. Дараа нь яг ямар асуудлыг шийдэж байгаагаа тодруулна.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DPD31 үеийн Financial болон Behavioral мэдээллээр Machine Learning model ашиглаж Risk Score гарган, Risk Ranking хийсэн. Prediction point: date_dpd_31. Target: is_dpd_91 — 1 бол 91+ хоног хэтэрсэн, 0 бол хэтрээгүй. Дараа нь энэ таамаглалыг хийхэд ямар өгөгдөл ашигласныг харна.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61,200 нийт мөрнөөс 52,737 нь labeled, 8,463 нь unlabeled буюу final prediction population. Labeled хэсгийг Train 34,672 / Validation 9,170 / Test 8,895 гэж хуваасан. 33 final feature ашигласан. Model development болон final prediction гэсэн хоёр өөр population байсныг анзаараарай.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24 Behavioral (зан төлөв) + 9 Financial (санхүү) = 33 final feature. Transaction, session, notification зэрэг behavioral signal-ийг 7/30/60/90 хоногийн цонхоор тооцсон. Санхүүгийн нөхцөл болон сүүлийн behavioral signal-ийг хамтад нь ашигласан гол шийдвэр энэ.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Train 34,672 / Validation 9,170 / Test 8,895 гэж тусад нь ашигласан. Гэхдээ credit-level overlap байгаа: Train∩Val 3,138, Train∩Test 3,523, Val∩Test 213 credit. Иймээс Test гүйцэтгэлийг бүрэн unseen-credit generalization гэж тайлбарлахад болгоомжтой хандсан — энэ бол өгөгдлийн шударга дүгнэлт, алдаа биш.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 model туршсан: XGBoost, LightGBM, MLP Top33/20/10. XGBoost Test ROC-AUC 0.6175, PR-AUC 0.3875 — хоёр metric-ийн аль алинд хамгийн өндөр. LightGBM-тэй ялгаа бага байсан (0.6145 / 0.3744). Ялгааг хэтрүүлж тайлбарлахгүй.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Validation ROC-AUC 0.6288, PR-AUC 0.4322; Test ROC-AUC 0.6175, PR-AUC 0.3875. Test baseline positive rate 28.59%. Validation-ээс Test руу гүйцэтгэл бага зэрэг буурсан ч ranking signal хадгалагдсан. ROC-AUC нь accuracy биш, risk score бүрэн calibrated магадлал биш гэдгийг тодотгоно.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Хамгийн хүчтэй business signal: Top 10% segment-ийн actual positive rate 46.01%, baseline 28.59%, Lift 1.61x, Positive Capture 16.08%. 46.01% бол predicted probability биш — тухайн segment дээр ажиглагдсан бодит эрсдэлтэй хэрэглэгчийн эзлэх хувь. Model нь бүх хэрэглэгчийг төгс ангилахаас илүү эрэмбэлж priority тогтооход хэрэгтэй.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sessions_l7d (14.89%) болон sessions_l30d (8.18%) хамгийн өндөр importance-той feature. Feature importance бол causal relationship биш — sessions_l7d нь зөвхөн model-ийн хувьд өндөр хувь нэмэртэй feature гэдгийг тодотгоно.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Final prediction population 8,463 credit-ийг risk score-оор эрэмбэлж 4 segment болгосон: Top10% (846, дундаж оноо 0.4502), 10-20% (846, 0.4193), 20-30% (846, 0.3988), Bottom 70% (5,925, 0.3123). Risk Score нь absolute probability бус, relative ranking signal гэдгийг тодотгоно.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Proposed use case: DPD31 → Risk Scoring → Ranking → Priority Segments → Collection/Early Intervention → Actual Outcome → Monitoring. Энэ workflow Toki-д хараахан production дээр ажиллаагүй, зөвхөн санал байгааг тодотгоно. Production-ээс өмнө: credit-level split, temporal validation, calibration, cost-based threshold, drift monitoring шаардлагатай.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01 XGBoost хамгийн өндөр Test ROC-AUC болон PR-AUC үзүүлсэн. 02 Top10% actual positive rate 46.01%, Lift 1.61x. 03 Эрэмбэлэлтийг collection/early intervention prioritization-д ашиглаж болно. Production-ээс өмнө strict validation, calibration, cost-based threshold шаардлагатай гэдгийг сануулж, талархал илэрхийлнэ.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5F53CA-C7DB-19A7-BAEF-183E70E934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86000" y="1683545"/>
            <a:ext cx="13716000" cy="3581400"/>
          </a:xfrm>
        </p:spPr>
        <p:txBody>
          <a:bodyPr anchor="b"/>
          <a:lstStyle>
            <a:lvl1pPr algn="ctr">
              <a:defRPr sz="9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C4086B0-72D2-DEF0-CE19-D043DDF234B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86000" y="5403057"/>
            <a:ext cx="13716000" cy="2483643"/>
          </a:xfrm>
        </p:spPr>
        <p:txBody>
          <a:bodyPr/>
          <a:lstStyle>
            <a:lvl1pPr marL="0" indent="0" algn="ctr">
              <a:buNone/>
              <a:defRPr sz="3600"/>
            </a:lvl1pPr>
            <a:lvl2pPr marL="685800" indent="0" algn="ctr">
              <a:buNone/>
              <a:defRPr sz="3000"/>
            </a:lvl2pPr>
            <a:lvl3pPr marL="1371600" indent="0" algn="ctr">
              <a:buNone/>
              <a:defRPr sz="2700"/>
            </a:lvl3pPr>
            <a:lvl4pPr marL="2057400" indent="0" algn="ctr">
              <a:buNone/>
              <a:defRPr sz="2400"/>
            </a:lvl4pPr>
            <a:lvl5pPr marL="2743200" indent="0" algn="ctr">
              <a:buNone/>
              <a:defRPr sz="2400"/>
            </a:lvl5pPr>
            <a:lvl6pPr marL="3429000" indent="0" algn="ctr">
              <a:buNone/>
              <a:defRPr sz="2400"/>
            </a:lvl6pPr>
            <a:lvl7pPr marL="4114800" indent="0" algn="ctr">
              <a:buNone/>
              <a:defRPr sz="2400"/>
            </a:lvl7pPr>
            <a:lvl8pPr marL="4800600" indent="0" algn="ctr">
              <a:buNone/>
              <a:defRPr sz="2400"/>
            </a:lvl8pPr>
            <a:lvl9pPr marL="5486400" indent="0" algn="ctr">
              <a:buNone/>
              <a:defRPr sz="24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0B86C5-14B8-F0F0-F1C2-CE73D38685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00776B-4144-4530-AFF7-B10052A85447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56C1E5-1EA6-9664-04BE-B49BAC6ECB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9FB193-7835-C2BC-6BBD-3E6BDBD5B9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D37413-9BE8-45BE-9FF3-37348365E5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6181435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D678AD-F201-17DB-0A47-180E930B4D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42A5A3-35FD-B6BC-F991-4B5B2D243F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5B7F6A-2FB2-F21A-B708-328D0C6BC4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00776B-4144-4530-AFF7-B10052A85447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A4B96B-ED76-5F55-20B0-7FB46C5CDE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8B4BC6-05BC-EF50-01EF-15AFA55E6C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D37413-9BE8-45BE-9FF3-37348365E5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7538301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5F9AF6-8583-3892-23DE-E1E5A17C4E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47775" y="2564608"/>
            <a:ext cx="15773400" cy="4279106"/>
          </a:xfrm>
        </p:spPr>
        <p:txBody>
          <a:bodyPr anchor="b"/>
          <a:lstStyle>
            <a:lvl1pPr>
              <a:defRPr sz="9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3222DD2-D05C-825C-7081-66307CCFC3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47775" y="6884195"/>
            <a:ext cx="15773400" cy="2250281"/>
          </a:xfrm>
        </p:spPr>
        <p:txBody>
          <a:bodyPr/>
          <a:lstStyle>
            <a:lvl1pPr marL="0" indent="0">
              <a:buNone/>
              <a:defRPr sz="3600">
                <a:solidFill>
                  <a:schemeClr val="tx1">
                    <a:tint val="75000"/>
                  </a:schemeClr>
                </a:solidFill>
              </a:defRPr>
            </a:lvl1pPr>
            <a:lvl2pPr marL="685800" indent="0">
              <a:buNone/>
              <a:defRPr sz="3000">
                <a:solidFill>
                  <a:schemeClr val="tx1">
                    <a:tint val="75000"/>
                  </a:schemeClr>
                </a:solidFill>
              </a:defRPr>
            </a:lvl2pPr>
            <a:lvl3pPr marL="1371600" indent="0">
              <a:buNone/>
              <a:defRPr sz="2700">
                <a:solidFill>
                  <a:schemeClr val="tx1">
                    <a:tint val="75000"/>
                  </a:schemeClr>
                </a:solidFill>
              </a:defRPr>
            </a:lvl3pPr>
            <a:lvl4pPr marL="20574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4pPr>
            <a:lvl5pPr marL="27432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5pPr>
            <a:lvl6pPr marL="34290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6pPr>
            <a:lvl7pPr marL="41148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7pPr>
            <a:lvl8pPr marL="48006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8pPr>
            <a:lvl9pPr marL="54864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A6219D-C9EB-5A65-9D5D-C587485DC7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00776B-4144-4530-AFF7-B10052A85447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1C41FB-5FD7-B801-B4C6-DA85D3E215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9874EC-C095-5C6D-C994-0E836073E2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D37413-9BE8-45BE-9FF3-37348365E5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8525347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4939E3-9CD8-78D4-0C7D-23AAC20F44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5E11E2-C24D-9945-98BA-C9B522C3701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257300" y="2738438"/>
            <a:ext cx="7772400" cy="6527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8D75616-085F-91A5-C5BD-4146DB59622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258300" y="2738438"/>
            <a:ext cx="7772400" cy="6527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D43BC13-B75E-49FA-4C84-0EE8FE9893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00776B-4144-4530-AFF7-B10052A85447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8EA62BB-67E6-AC00-2D0F-8634ADE2E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E938E7F-7E83-4083-8865-F362CB4AD0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D37413-9BE8-45BE-9FF3-37348365E5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9424140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F5AD88-63E9-1B3D-76E8-AE45A64667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9682" y="547688"/>
            <a:ext cx="15773400" cy="198834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76ED07-AAB7-B6CA-0439-DBED9DBB2D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59683" y="2521745"/>
            <a:ext cx="7736681" cy="1235868"/>
          </a:xfrm>
        </p:spPr>
        <p:txBody>
          <a:bodyPr anchor="b"/>
          <a:lstStyle>
            <a:lvl1pPr marL="0" indent="0">
              <a:buNone/>
              <a:defRPr sz="3600" b="1"/>
            </a:lvl1pPr>
            <a:lvl2pPr marL="685800" indent="0">
              <a:buNone/>
              <a:defRPr sz="3000" b="1"/>
            </a:lvl2pPr>
            <a:lvl3pPr marL="1371600" indent="0">
              <a:buNone/>
              <a:defRPr sz="2700" b="1"/>
            </a:lvl3pPr>
            <a:lvl4pPr marL="2057400" indent="0">
              <a:buNone/>
              <a:defRPr sz="2400" b="1"/>
            </a:lvl4pPr>
            <a:lvl5pPr marL="2743200" indent="0">
              <a:buNone/>
              <a:defRPr sz="2400" b="1"/>
            </a:lvl5pPr>
            <a:lvl6pPr marL="3429000" indent="0">
              <a:buNone/>
              <a:defRPr sz="2400" b="1"/>
            </a:lvl6pPr>
            <a:lvl7pPr marL="4114800" indent="0">
              <a:buNone/>
              <a:defRPr sz="2400" b="1"/>
            </a:lvl7pPr>
            <a:lvl8pPr marL="4800600" indent="0">
              <a:buNone/>
              <a:defRPr sz="2400" b="1"/>
            </a:lvl8pPr>
            <a:lvl9pPr marL="5486400" indent="0">
              <a:buNone/>
              <a:defRPr sz="24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84413A5-6DA6-C465-414C-944EDF60BA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259683" y="3757613"/>
            <a:ext cx="7736681" cy="55268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16ACA9A-36FE-5197-8F14-BB9F044DEC9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258300" y="2521745"/>
            <a:ext cx="7774782" cy="1235868"/>
          </a:xfrm>
        </p:spPr>
        <p:txBody>
          <a:bodyPr anchor="b"/>
          <a:lstStyle>
            <a:lvl1pPr marL="0" indent="0">
              <a:buNone/>
              <a:defRPr sz="3600" b="1"/>
            </a:lvl1pPr>
            <a:lvl2pPr marL="685800" indent="0">
              <a:buNone/>
              <a:defRPr sz="3000" b="1"/>
            </a:lvl2pPr>
            <a:lvl3pPr marL="1371600" indent="0">
              <a:buNone/>
              <a:defRPr sz="2700" b="1"/>
            </a:lvl3pPr>
            <a:lvl4pPr marL="2057400" indent="0">
              <a:buNone/>
              <a:defRPr sz="2400" b="1"/>
            </a:lvl4pPr>
            <a:lvl5pPr marL="2743200" indent="0">
              <a:buNone/>
              <a:defRPr sz="2400" b="1"/>
            </a:lvl5pPr>
            <a:lvl6pPr marL="3429000" indent="0">
              <a:buNone/>
              <a:defRPr sz="2400" b="1"/>
            </a:lvl6pPr>
            <a:lvl7pPr marL="4114800" indent="0">
              <a:buNone/>
              <a:defRPr sz="2400" b="1"/>
            </a:lvl7pPr>
            <a:lvl8pPr marL="4800600" indent="0">
              <a:buNone/>
              <a:defRPr sz="2400" b="1"/>
            </a:lvl8pPr>
            <a:lvl9pPr marL="5486400" indent="0">
              <a:buNone/>
              <a:defRPr sz="24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6807D62-8F51-902F-7A5C-FD1385BAA96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9258300" y="3757613"/>
            <a:ext cx="7774782" cy="55268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09F6EF4-1F02-9296-EB0E-589990900A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00776B-4144-4530-AFF7-B10052A85447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0DA9B6B-6B93-FE11-F6F9-891BB236EB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E226D7A-946B-BFED-7841-2C286CD0B2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D37413-9BE8-45BE-9FF3-37348365E5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2925073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EA3CD9-A77D-C8E8-111B-679CBCEA2F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ACF0A29-26E8-65FF-F08C-C402F00422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00776B-4144-4530-AFF7-B10052A85447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CC667D3-5311-FAA1-8A2C-02ACE2B2FB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8163943-ABC5-4836-A09A-0C6259042C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D37413-9BE8-45BE-9FF3-37348365E5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1805646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7E1A299-53FB-352D-C95F-534544B980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00776B-4144-4530-AFF7-B10052A85447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3C7B6A-807C-4C06-AC10-A3B609F81E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C92418-5E1B-5CCD-69F8-AB382F68EC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D37413-9BE8-45BE-9FF3-37348365E5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9172508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CB813A-A44F-EBC2-096D-E686694841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9683" y="685800"/>
            <a:ext cx="5898356" cy="2400300"/>
          </a:xfrm>
        </p:spPr>
        <p:txBody>
          <a:bodyPr anchor="b"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863CE0-6C01-1234-4BA9-CC801A379C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74782" y="1481138"/>
            <a:ext cx="9258300" cy="7310438"/>
          </a:xfrm>
        </p:spPr>
        <p:txBody>
          <a:bodyPr/>
          <a:lstStyle>
            <a:lvl1pPr>
              <a:defRPr sz="4800"/>
            </a:lvl1pPr>
            <a:lvl2pPr>
              <a:defRPr sz="4200"/>
            </a:lvl2pPr>
            <a:lvl3pPr>
              <a:defRPr sz="3600"/>
            </a:lvl3pPr>
            <a:lvl4pPr>
              <a:defRPr sz="3000"/>
            </a:lvl4pPr>
            <a:lvl5pPr>
              <a:defRPr sz="3000"/>
            </a:lvl5pPr>
            <a:lvl6pPr>
              <a:defRPr sz="3000"/>
            </a:lvl6pPr>
            <a:lvl7pPr>
              <a:defRPr sz="3000"/>
            </a:lvl7pPr>
            <a:lvl8pPr>
              <a:defRPr sz="3000"/>
            </a:lvl8pPr>
            <a:lvl9pPr>
              <a:defRPr sz="3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7AA9F76-26C1-0E50-2FA0-E331AA2341B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259683" y="3086100"/>
            <a:ext cx="5898356" cy="5717382"/>
          </a:xfrm>
        </p:spPr>
        <p:txBody>
          <a:bodyPr/>
          <a:lstStyle>
            <a:lvl1pPr marL="0" indent="0">
              <a:buNone/>
              <a:defRPr sz="2400"/>
            </a:lvl1pPr>
            <a:lvl2pPr marL="685800" indent="0">
              <a:buNone/>
              <a:defRPr sz="2100"/>
            </a:lvl2pPr>
            <a:lvl3pPr marL="1371600" indent="0">
              <a:buNone/>
              <a:defRPr sz="1800"/>
            </a:lvl3pPr>
            <a:lvl4pPr marL="2057400" indent="0">
              <a:buNone/>
              <a:defRPr sz="1500"/>
            </a:lvl4pPr>
            <a:lvl5pPr marL="2743200" indent="0">
              <a:buNone/>
              <a:defRPr sz="1500"/>
            </a:lvl5pPr>
            <a:lvl6pPr marL="3429000" indent="0">
              <a:buNone/>
              <a:defRPr sz="1500"/>
            </a:lvl6pPr>
            <a:lvl7pPr marL="4114800" indent="0">
              <a:buNone/>
              <a:defRPr sz="1500"/>
            </a:lvl7pPr>
            <a:lvl8pPr marL="4800600" indent="0">
              <a:buNone/>
              <a:defRPr sz="1500"/>
            </a:lvl8pPr>
            <a:lvl9pPr marL="5486400" indent="0">
              <a:buNone/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701CDD4-0F07-08DD-5EF7-746A9E6AAA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00776B-4144-4530-AFF7-B10052A85447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A322D69-F2D9-7A3B-28F8-114C22FEFD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CBAC85A-9115-5EC9-5BF1-F029AEB068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D37413-9BE8-45BE-9FF3-37348365E5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9722845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F6224B-40AE-B727-0DC9-1762B1C761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9683" y="685800"/>
            <a:ext cx="5898356" cy="2400300"/>
          </a:xfrm>
        </p:spPr>
        <p:txBody>
          <a:bodyPr anchor="b"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C6E6A12-63FE-DC41-396D-0DF7A6C5E32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7774782" y="1481138"/>
            <a:ext cx="9258300" cy="7310438"/>
          </a:xfrm>
        </p:spPr>
        <p:txBody>
          <a:bodyPr/>
          <a:lstStyle>
            <a:lvl1pPr marL="0" indent="0">
              <a:buNone/>
              <a:defRPr sz="4800"/>
            </a:lvl1pPr>
            <a:lvl2pPr marL="685800" indent="0">
              <a:buNone/>
              <a:defRPr sz="4200"/>
            </a:lvl2pPr>
            <a:lvl3pPr marL="1371600" indent="0">
              <a:buNone/>
              <a:defRPr sz="3600"/>
            </a:lvl3pPr>
            <a:lvl4pPr marL="2057400" indent="0">
              <a:buNone/>
              <a:defRPr sz="3000"/>
            </a:lvl4pPr>
            <a:lvl5pPr marL="2743200" indent="0">
              <a:buNone/>
              <a:defRPr sz="3000"/>
            </a:lvl5pPr>
            <a:lvl6pPr marL="3429000" indent="0">
              <a:buNone/>
              <a:defRPr sz="3000"/>
            </a:lvl6pPr>
            <a:lvl7pPr marL="4114800" indent="0">
              <a:buNone/>
              <a:defRPr sz="3000"/>
            </a:lvl7pPr>
            <a:lvl8pPr marL="4800600" indent="0">
              <a:buNone/>
              <a:defRPr sz="3000"/>
            </a:lvl8pPr>
            <a:lvl9pPr marL="5486400" indent="0">
              <a:buNone/>
              <a:defRPr sz="3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93EBD65-1B7B-6F5A-9723-547067371C7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259683" y="3086100"/>
            <a:ext cx="5898356" cy="5717382"/>
          </a:xfrm>
        </p:spPr>
        <p:txBody>
          <a:bodyPr/>
          <a:lstStyle>
            <a:lvl1pPr marL="0" indent="0">
              <a:buNone/>
              <a:defRPr sz="2400"/>
            </a:lvl1pPr>
            <a:lvl2pPr marL="685800" indent="0">
              <a:buNone/>
              <a:defRPr sz="2100"/>
            </a:lvl2pPr>
            <a:lvl3pPr marL="1371600" indent="0">
              <a:buNone/>
              <a:defRPr sz="1800"/>
            </a:lvl3pPr>
            <a:lvl4pPr marL="2057400" indent="0">
              <a:buNone/>
              <a:defRPr sz="1500"/>
            </a:lvl4pPr>
            <a:lvl5pPr marL="2743200" indent="0">
              <a:buNone/>
              <a:defRPr sz="1500"/>
            </a:lvl5pPr>
            <a:lvl6pPr marL="3429000" indent="0">
              <a:buNone/>
              <a:defRPr sz="1500"/>
            </a:lvl6pPr>
            <a:lvl7pPr marL="4114800" indent="0">
              <a:buNone/>
              <a:defRPr sz="1500"/>
            </a:lvl7pPr>
            <a:lvl8pPr marL="4800600" indent="0">
              <a:buNone/>
              <a:defRPr sz="1500"/>
            </a:lvl8pPr>
            <a:lvl9pPr marL="5486400" indent="0">
              <a:buNone/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B0E0B0F-13E4-A49F-EC88-775E2B716F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00776B-4144-4530-AFF7-B10052A85447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43802A9-2CFD-64CC-44C2-66DAFE5E2B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98C664F-1ED9-A0F7-B33A-0B5FC485AE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D37413-9BE8-45BE-9FF3-37348365E5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091809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510D7F-82B2-670B-DFAB-669F1FE6B7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B2545D2-2E36-4382-638F-9869BEB4F6E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FFBE9A-66F9-6903-42BA-AB8CB98099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00776B-4144-4530-AFF7-B10052A85447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9BA77B-1D20-66C9-D616-D21E0220A1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95E4F1-340A-412A-F70A-1E6D70E383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D37413-9BE8-45BE-9FF3-37348365E5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8956638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90B6690-FDEC-4509-38D3-742BCADF592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13087350" y="547688"/>
            <a:ext cx="3943350" cy="8717757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E458BF3-3E75-07DA-3F70-F37858719A3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257300" y="547688"/>
            <a:ext cx="11601450" cy="871775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2BF9E5-11D1-EC74-529D-32232951E7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00776B-4144-4530-AFF7-B10052A85447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80F64F-8F2F-C4B4-09B4-E66DEC5782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1EE5AB-C4FF-1FB0-8D25-096AAE63F8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D37413-9BE8-45BE-9FF3-37348365E5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0903514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304937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4554449-49DE-DA2B-7878-DB4CFC6482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7300" y="547688"/>
            <a:ext cx="15773400" cy="198834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A69BC49-D7BC-5E34-6F00-17548417C3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57300" y="2738438"/>
            <a:ext cx="15773400" cy="65270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6B1275-ED7D-4E2A-4D54-477D69D41A0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257300" y="9534526"/>
            <a:ext cx="41148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00776B-4144-4530-AFF7-B10052A85447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A81EFA-7D84-6A76-4317-7E415A922C8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057900" y="9534526"/>
            <a:ext cx="61722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754C91-FA0D-443B-D424-9EED820FE49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2915900" y="9534526"/>
            <a:ext cx="41148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CD37413-9BE8-45BE-9FF3-37348365E5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30805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  <p:sldLayoutId id="2147483662" r:id="rId12"/>
  </p:sldLayoutIdLst>
  <p:hf sldNum="0" hdr="0" ftr="0" dt="0"/>
  <p:txStyles>
    <p:titleStyle>
      <a:lvl1pPr algn="l" defTabSz="1371600" rtl="0" eaLnBrk="1" latinLnBrk="0" hangingPunct="1">
        <a:lnSpc>
          <a:spcPct val="90000"/>
        </a:lnSpc>
        <a:spcBef>
          <a:spcPct val="0"/>
        </a:spcBef>
        <a:buNone/>
        <a:defRPr sz="6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1371600" rtl="0" eaLnBrk="1" latinLnBrk="0" hangingPunct="1">
        <a:lnSpc>
          <a:spcPct val="90000"/>
        </a:lnSpc>
        <a:spcBef>
          <a:spcPts val="1500"/>
        </a:spcBef>
        <a:buFont typeface="Arial" panose="020B0604020202020204" pitchFamily="34" charset="0"/>
        <a:buChar char="•"/>
        <a:defRPr sz="4200" kern="1200">
          <a:solidFill>
            <a:schemeClr val="tx1"/>
          </a:solidFill>
          <a:latin typeface="+mn-lt"/>
          <a:ea typeface="+mn-ea"/>
          <a:cs typeface="+mn-cs"/>
        </a:defRPr>
      </a:lvl1pPr>
      <a:lvl2pPr marL="10287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7145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3000" kern="1200">
          <a:solidFill>
            <a:schemeClr val="tx1"/>
          </a:solidFill>
          <a:latin typeface="+mn-lt"/>
          <a:ea typeface="+mn-ea"/>
          <a:cs typeface="+mn-cs"/>
        </a:defRPr>
      </a:lvl3pPr>
      <a:lvl4pPr marL="24003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4pPr>
      <a:lvl5pPr marL="30861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5pPr>
      <a:lvl6pPr marL="37719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44577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51435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8293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2pPr>
      <a:lvl3pPr marL="13716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3pPr>
      <a:lvl4pPr marL="20574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5pPr>
      <a:lvl6pPr marL="34290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41148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48006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4864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685800"/>
            <a:ext cx="17602200" cy="3924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6765"/>
              </a:lnSpc>
              <a:buNone/>
            </a:pPr>
            <a:r>
              <a:rPr lang="en-US" sz="1800" b="1" kern="0" spc="144" dirty="0">
                <a:solidFill>
                  <a:srgbClr val="112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TOKI — DATA SCIENTIST CANDIDATE ASSIGNMENT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43000" y="4365308"/>
            <a:ext cx="14668500" cy="7909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90642"/>
              </a:lnSpc>
              <a:buNone/>
            </a:pPr>
            <a:r>
              <a:rPr lang="en-US" sz="5700" b="1" kern="0" spc="-85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Credit Risk Prediction</a:t>
            </a:r>
            <a:endParaRPr lang="en-US" sz="5700" dirty="0"/>
          </a:p>
        </p:txBody>
      </p:sp>
      <p:sp>
        <p:nvSpPr>
          <p:cNvPr id="4" name="Text 2"/>
          <p:cNvSpPr/>
          <p:nvPr/>
        </p:nvSpPr>
        <p:spPr>
          <a:xfrm>
            <a:off x="1143000" y="5346740"/>
            <a:ext cx="14668500" cy="4495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400" dirty="0">
                <a:solidFill>
                  <a:srgbClr val="201E1D">
                    <a:alpha val="7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DPD31 болсон credit-үүдээс DPD91+ болох эрсдэлийг таамаглах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1143000" y="9083516"/>
            <a:ext cx="16002000" cy="15240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1143000" y="9384506"/>
            <a:ext cx="856774" cy="4071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4549"/>
              </a:lnSpc>
              <a:buNone/>
            </a:pPr>
            <a:r>
              <a:rPr lang="en-US" sz="1875" b="1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DPD31</a:t>
            </a:r>
            <a:endParaRPr lang="en-US" sz="1875" dirty="0"/>
          </a:p>
        </p:txBody>
      </p:sp>
      <p:sp>
        <p:nvSpPr>
          <p:cNvPr id="7" name="Shape 5"/>
          <p:cNvSpPr/>
          <p:nvPr/>
        </p:nvSpPr>
        <p:spPr>
          <a:xfrm>
            <a:off x="2152174" y="9635966"/>
            <a:ext cx="4175879" cy="9525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6556653" y="9384506"/>
            <a:ext cx="3456003" cy="4071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4549"/>
              </a:lnSpc>
              <a:buNone/>
            </a:pPr>
            <a:r>
              <a:rPr lang="en-US" sz="1875" dirty="0">
                <a:solidFill>
                  <a:srgbClr val="201E1D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Prediction Point </a:t>
            </a:r>
            <a:r>
              <a:rPr lang="en-US" sz="1875" b="1" dirty="0">
                <a:solidFill>
                  <a:srgbClr val="112843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date_dpd_31</a:t>
            </a:r>
            <a:endParaRPr lang="en-US" sz="1875" dirty="0"/>
          </a:p>
        </p:txBody>
      </p:sp>
      <p:sp>
        <p:nvSpPr>
          <p:cNvPr id="9" name="Shape 7"/>
          <p:cNvSpPr/>
          <p:nvPr/>
        </p:nvSpPr>
        <p:spPr>
          <a:xfrm>
            <a:off x="9927074" y="9635966"/>
            <a:ext cx="4175879" cy="9525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14331553" y="9384506"/>
            <a:ext cx="3094792" cy="4071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4549"/>
              </a:lnSpc>
              <a:buNone/>
            </a:pPr>
            <a:r>
              <a:rPr lang="en-US" sz="1875" b="1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Future DPD91+ </a:t>
            </a:r>
            <a:r>
              <a:rPr lang="en-US" sz="1875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is_dpd_91</a:t>
            </a:r>
            <a:endParaRPr lang="en-US" sz="1875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685800"/>
            <a:ext cx="17602200" cy="5928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97067"/>
              </a:lnSpc>
              <a:buNone/>
            </a:pPr>
            <a:r>
              <a:rPr lang="mn-MN" sz="3900" b="1" kern="0" spc="-58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</a:t>
            </a:r>
            <a:r>
              <a:rPr lang="en-US" sz="3900" b="1" kern="0" spc="-58" dirty="0" err="1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мар</a:t>
            </a:r>
            <a:r>
              <a:rPr lang="en-US" sz="3900" b="1" kern="0" spc="-58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асуудлыг шийдэж байна вэ?</a:t>
            </a:r>
            <a:endParaRPr lang="en-US" sz="3900" dirty="0"/>
          </a:p>
        </p:txBody>
      </p:sp>
      <p:sp>
        <p:nvSpPr>
          <p:cNvPr id="3" name="Shape 1"/>
          <p:cNvSpPr/>
          <p:nvPr/>
        </p:nvSpPr>
        <p:spPr>
          <a:xfrm>
            <a:off x="1143000" y="1450062"/>
            <a:ext cx="16002000" cy="15240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143000" y="4288274"/>
            <a:ext cx="16002000" cy="15240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143000" y="4103727"/>
            <a:ext cx="1792843" cy="369094"/>
          </a:xfrm>
          <a:prstGeom prst="rect">
            <a:avLst/>
          </a:prstGeom>
          <a:solidFill>
            <a:srgbClr val="F3F2F2"/>
          </a:solidFill>
          <a:ln/>
        </p:spPr>
      </p:sp>
      <p:sp>
        <p:nvSpPr>
          <p:cNvPr id="6" name="Text 4"/>
          <p:cNvSpPr/>
          <p:nvPr/>
        </p:nvSpPr>
        <p:spPr>
          <a:xfrm>
            <a:off x="1129558" y="4103727"/>
            <a:ext cx="1819728" cy="4071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lnSpc>
                <a:spcPct val="134549"/>
              </a:lnSpc>
              <a:buNone/>
            </a:pPr>
            <a:r>
              <a:rPr lang="en-US" sz="1875" b="1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DPD31 болсон</a:t>
            </a:r>
            <a:endParaRPr lang="en-US" sz="1875" dirty="0"/>
          </a:p>
        </p:txBody>
      </p:sp>
      <p:sp>
        <p:nvSpPr>
          <p:cNvPr id="7" name="Shape 5"/>
          <p:cNvSpPr/>
          <p:nvPr/>
        </p:nvSpPr>
        <p:spPr>
          <a:xfrm>
            <a:off x="4011454" y="4103727"/>
            <a:ext cx="2937034" cy="369094"/>
          </a:xfrm>
          <a:prstGeom prst="rect">
            <a:avLst/>
          </a:prstGeom>
          <a:solidFill>
            <a:srgbClr val="F3F2F2"/>
          </a:solidFill>
          <a:ln/>
        </p:spPr>
      </p:sp>
      <p:sp>
        <p:nvSpPr>
          <p:cNvPr id="8" name="Text 6"/>
          <p:cNvSpPr/>
          <p:nvPr/>
        </p:nvSpPr>
        <p:spPr>
          <a:xfrm>
            <a:off x="3940802" y="4103727"/>
            <a:ext cx="3078337" cy="4071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lnSpc>
                <a:spcPct val="134549"/>
              </a:lnSpc>
              <a:buNone/>
            </a:pPr>
            <a:r>
              <a:rPr lang="en-US" sz="1875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Financial + Behavioral Info</a:t>
            </a:r>
            <a:endParaRPr lang="en-US" sz="1875" dirty="0"/>
          </a:p>
        </p:txBody>
      </p:sp>
      <p:sp>
        <p:nvSpPr>
          <p:cNvPr id="9" name="Shape 7"/>
          <p:cNvSpPr/>
          <p:nvPr/>
        </p:nvSpPr>
        <p:spPr>
          <a:xfrm>
            <a:off x="8024098" y="4103727"/>
            <a:ext cx="1214676" cy="369094"/>
          </a:xfrm>
          <a:prstGeom prst="rect">
            <a:avLst/>
          </a:prstGeom>
          <a:solidFill>
            <a:srgbClr val="F3F2F2"/>
          </a:solidFill>
          <a:ln/>
        </p:spPr>
      </p:sp>
      <p:sp>
        <p:nvSpPr>
          <p:cNvPr id="10" name="Text 8"/>
          <p:cNvSpPr/>
          <p:nvPr/>
        </p:nvSpPr>
        <p:spPr>
          <a:xfrm>
            <a:off x="8039564" y="4103727"/>
            <a:ext cx="1183743" cy="4071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lnSpc>
                <a:spcPct val="134549"/>
              </a:lnSpc>
              <a:buNone/>
            </a:pPr>
            <a:r>
              <a:rPr lang="en-US" sz="1875" b="1" dirty="0">
                <a:solidFill>
                  <a:srgbClr val="112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 Model</a:t>
            </a:r>
            <a:endParaRPr lang="en-US" sz="1875" dirty="0"/>
          </a:p>
        </p:txBody>
      </p:sp>
      <p:sp>
        <p:nvSpPr>
          <p:cNvPr id="11" name="Shape 9"/>
          <p:cNvSpPr/>
          <p:nvPr/>
        </p:nvSpPr>
        <p:spPr>
          <a:xfrm>
            <a:off x="10314384" y="4103727"/>
            <a:ext cx="1291233" cy="369094"/>
          </a:xfrm>
          <a:prstGeom prst="rect">
            <a:avLst/>
          </a:prstGeom>
          <a:solidFill>
            <a:srgbClr val="F3F2F2"/>
          </a:solidFill>
          <a:ln/>
        </p:spPr>
      </p:sp>
      <p:sp>
        <p:nvSpPr>
          <p:cNvPr id="12" name="Text 10"/>
          <p:cNvSpPr/>
          <p:nvPr/>
        </p:nvSpPr>
        <p:spPr>
          <a:xfrm>
            <a:off x="10326023" y="4103727"/>
            <a:ext cx="1267956" cy="4071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lnSpc>
                <a:spcPct val="134549"/>
              </a:lnSpc>
              <a:buNone/>
            </a:pPr>
            <a:r>
              <a:rPr lang="en-US" sz="1875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 Score</a:t>
            </a:r>
            <a:endParaRPr lang="en-US" sz="1875" dirty="0"/>
          </a:p>
        </p:txBody>
      </p:sp>
      <p:sp>
        <p:nvSpPr>
          <p:cNvPr id="13" name="Shape 11"/>
          <p:cNvSpPr/>
          <p:nvPr/>
        </p:nvSpPr>
        <p:spPr>
          <a:xfrm>
            <a:off x="12681228" y="4103727"/>
            <a:ext cx="1541502" cy="369094"/>
          </a:xfrm>
          <a:prstGeom prst="rect">
            <a:avLst/>
          </a:prstGeom>
          <a:solidFill>
            <a:srgbClr val="F3F2F2"/>
          </a:solidFill>
          <a:ln/>
        </p:spPr>
      </p:sp>
      <p:sp>
        <p:nvSpPr>
          <p:cNvPr id="14" name="Text 12"/>
          <p:cNvSpPr/>
          <p:nvPr/>
        </p:nvSpPr>
        <p:spPr>
          <a:xfrm>
            <a:off x="12680353" y="4103727"/>
            <a:ext cx="1543253" cy="4071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lnSpc>
                <a:spcPct val="134549"/>
              </a:lnSpc>
              <a:buNone/>
            </a:pPr>
            <a:r>
              <a:rPr lang="en-US" sz="1875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 Ranking</a:t>
            </a:r>
            <a:endParaRPr lang="en-US" sz="1875" dirty="0"/>
          </a:p>
        </p:txBody>
      </p:sp>
      <p:sp>
        <p:nvSpPr>
          <p:cNvPr id="15" name="Shape 13"/>
          <p:cNvSpPr/>
          <p:nvPr/>
        </p:nvSpPr>
        <p:spPr>
          <a:xfrm>
            <a:off x="15298341" y="4103727"/>
            <a:ext cx="1846659" cy="369094"/>
          </a:xfrm>
          <a:prstGeom prst="rect">
            <a:avLst/>
          </a:prstGeom>
          <a:solidFill>
            <a:srgbClr val="F3F2F2"/>
          </a:solidFill>
          <a:ln/>
        </p:spPr>
      </p:sp>
      <p:sp>
        <p:nvSpPr>
          <p:cNvPr id="16" name="Text 14"/>
          <p:cNvSpPr/>
          <p:nvPr/>
        </p:nvSpPr>
        <p:spPr>
          <a:xfrm>
            <a:off x="15282208" y="4103727"/>
            <a:ext cx="1878925" cy="4071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lnSpc>
                <a:spcPct val="134549"/>
              </a:lnSpc>
              <a:buNone/>
            </a:pPr>
            <a:r>
              <a:rPr lang="en-US" sz="1875" b="1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Future DPD91+</a:t>
            </a:r>
            <a:endParaRPr lang="en-US" sz="1875" dirty="0"/>
          </a:p>
        </p:txBody>
      </p:sp>
      <p:sp>
        <p:nvSpPr>
          <p:cNvPr id="17" name="Text 15"/>
          <p:cNvSpPr/>
          <p:nvPr/>
        </p:nvSpPr>
        <p:spPr>
          <a:xfrm>
            <a:off x="1143000" y="5368171"/>
            <a:ext cx="2625007" cy="3924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6765"/>
              </a:lnSpc>
              <a:buNone/>
            </a:pPr>
            <a:r>
              <a:rPr lang="en-US" sz="1800" kern="0" spc="108" dirty="0">
                <a:solidFill>
                  <a:srgbClr val="201E1D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PREDICTION POINT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143000" y="5760601"/>
            <a:ext cx="2625007" cy="6581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3402"/>
              </a:lnSpc>
              <a:buNone/>
            </a:pPr>
            <a:r>
              <a:rPr lang="en-US" sz="3150" b="1" dirty="0">
                <a:solidFill>
                  <a:srgbClr val="112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date_dpd_31</a:t>
            </a:r>
            <a:endParaRPr lang="en-US" sz="3150" dirty="0"/>
          </a:p>
        </p:txBody>
      </p:sp>
      <p:sp>
        <p:nvSpPr>
          <p:cNvPr id="19" name="Text 17"/>
          <p:cNvSpPr/>
          <p:nvPr/>
        </p:nvSpPr>
        <p:spPr>
          <a:xfrm>
            <a:off x="4672370" y="5368171"/>
            <a:ext cx="4642842" cy="3924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6765"/>
              </a:lnSpc>
              <a:buNone/>
            </a:pPr>
            <a:r>
              <a:rPr lang="en-US" sz="1800" kern="0" spc="108" dirty="0">
                <a:solidFill>
                  <a:srgbClr val="201E1D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4672370" y="5760601"/>
            <a:ext cx="4642842" cy="6581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3402"/>
              </a:lnSpc>
              <a:buNone/>
            </a:pPr>
            <a:r>
              <a:rPr lang="en-US" sz="3150" b="1" dirty="0">
                <a:solidFill>
                  <a:srgbClr val="112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is_dpd_91</a:t>
            </a:r>
            <a:endParaRPr lang="en-US" sz="3150" dirty="0"/>
          </a:p>
        </p:txBody>
      </p:sp>
      <p:sp>
        <p:nvSpPr>
          <p:cNvPr id="21" name="Text 19"/>
          <p:cNvSpPr/>
          <p:nvPr/>
        </p:nvSpPr>
        <p:spPr>
          <a:xfrm>
            <a:off x="4672370" y="6437829"/>
            <a:ext cx="4642842" cy="4071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4549"/>
              </a:lnSpc>
              <a:buNone/>
            </a:pPr>
            <a:r>
              <a:rPr lang="en-US" sz="1875" dirty="0">
                <a:solidFill>
                  <a:srgbClr val="201E1D">
                    <a:alpha val="7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→ 91+ хоног хэтэрсэн · 0 → хэтрээгүй</a:t>
            </a:r>
            <a:endParaRPr lang="en-US" sz="1875" dirty="0"/>
          </a:p>
        </p:txBody>
      </p:sp>
      <p:sp>
        <p:nvSpPr>
          <p:cNvPr id="22" name="Shape 20"/>
          <p:cNvSpPr/>
          <p:nvPr/>
        </p:nvSpPr>
        <p:spPr>
          <a:xfrm>
            <a:off x="1143000" y="9159716"/>
            <a:ext cx="16002000" cy="15240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1143000" y="9384506"/>
            <a:ext cx="16482060" cy="4071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4549"/>
              </a:lnSpc>
              <a:buNone/>
            </a:pPr>
            <a:r>
              <a:rPr lang="en-US" sz="1875" b="1" dirty="0">
                <a:solidFill>
                  <a:srgbClr val="112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DPD31 болсон үеийн мэдээллээр ирээдүйн DPD91+ эрсдэлийг эрэмбэлэх.</a:t>
            </a:r>
            <a:endParaRPr lang="en-US" sz="1875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685800"/>
            <a:ext cx="8060210" cy="5928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97067"/>
              </a:lnSpc>
              <a:buNone/>
            </a:pPr>
            <a:r>
              <a:rPr lang="en-US" sz="3900" b="1" kern="0" spc="-58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Өгөгдөл ба Prediction Population</a:t>
            </a:r>
            <a:endParaRPr lang="en-US" sz="3900" dirty="0"/>
          </a:p>
        </p:txBody>
      </p:sp>
      <p:sp>
        <p:nvSpPr>
          <p:cNvPr id="3" name="Text 1"/>
          <p:cNvSpPr/>
          <p:nvPr/>
        </p:nvSpPr>
        <p:spPr>
          <a:xfrm>
            <a:off x="15322630" y="861060"/>
            <a:ext cx="2004608" cy="4071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4549"/>
              </a:lnSpc>
              <a:buNone/>
            </a:pPr>
            <a:r>
              <a:rPr lang="en-US" sz="1875" dirty="0">
                <a:solidFill>
                  <a:srgbClr val="201E1D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 Final Features</a:t>
            </a:r>
            <a:endParaRPr lang="en-US" sz="1875" dirty="0"/>
          </a:p>
        </p:txBody>
      </p:sp>
      <p:sp>
        <p:nvSpPr>
          <p:cNvPr id="4" name="Shape 2"/>
          <p:cNvSpPr/>
          <p:nvPr/>
        </p:nvSpPr>
        <p:spPr>
          <a:xfrm>
            <a:off x="1143000" y="1240512"/>
            <a:ext cx="16002000" cy="15240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143000" y="3677960"/>
            <a:ext cx="12596813" cy="361950"/>
          </a:xfrm>
          <a:prstGeom prst="rect">
            <a:avLst/>
          </a:prstGeom>
          <a:solidFill>
            <a:srgbClr val="DCE8F4"/>
          </a:solidFill>
          <a:ln/>
        </p:spPr>
      </p:sp>
      <p:sp>
        <p:nvSpPr>
          <p:cNvPr id="6" name="Text 4"/>
          <p:cNvSpPr/>
          <p:nvPr/>
        </p:nvSpPr>
        <p:spPr>
          <a:xfrm>
            <a:off x="13968413" y="3605570"/>
            <a:ext cx="3271885" cy="658177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lnSpc>
                <a:spcPct val="134549"/>
              </a:lnSpc>
              <a:buNone/>
            </a:pPr>
            <a:r>
              <a:rPr lang="en-US" sz="1875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Нийт хэрэглэгч — </a:t>
            </a:r>
            <a:r>
              <a:rPr lang="en-US" sz="3150" b="1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61,200</a:t>
            </a:r>
            <a:endParaRPr lang="en-US" sz="1875" dirty="0"/>
          </a:p>
        </p:txBody>
      </p:sp>
      <p:sp>
        <p:nvSpPr>
          <p:cNvPr id="7" name="Shape 5"/>
          <p:cNvSpPr/>
          <p:nvPr/>
        </p:nvSpPr>
        <p:spPr>
          <a:xfrm>
            <a:off x="1143000" y="4545687"/>
            <a:ext cx="11525250" cy="361950"/>
          </a:xfrm>
          <a:prstGeom prst="rect">
            <a:avLst/>
          </a:prstGeom>
          <a:solidFill>
            <a:srgbClr val="DCE8F4"/>
          </a:solidFill>
          <a:ln/>
        </p:spPr>
      </p:sp>
      <p:sp>
        <p:nvSpPr>
          <p:cNvPr id="8" name="Text 6"/>
          <p:cNvSpPr/>
          <p:nvPr/>
        </p:nvSpPr>
        <p:spPr>
          <a:xfrm>
            <a:off x="12896850" y="4473297"/>
            <a:ext cx="3047342" cy="658177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lnSpc>
                <a:spcPct val="134549"/>
              </a:lnSpc>
              <a:buNone/>
            </a:pPr>
            <a:r>
              <a:rPr lang="en-US" sz="1875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Labeled Data — </a:t>
            </a:r>
            <a:r>
              <a:rPr lang="en-US" sz="3150" b="1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52,737</a:t>
            </a:r>
            <a:endParaRPr lang="en-US" sz="1875" dirty="0"/>
          </a:p>
        </p:txBody>
      </p:sp>
      <p:sp>
        <p:nvSpPr>
          <p:cNvPr id="9" name="Shape 7"/>
          <p:cNvSpPr/>
          <p:nvPr/>
        </p:nvSpPr>
        <p:spPr>
          <a:xfrm>
            <a:off x="1143000" y="5398175"/>
            <a:ext cx="10320099" cy="1143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10" name="Text 8"/>
          <p:cNvSpPr/>
          <p:nvPr/>
        </p:nvSpPr>
        <p:spPr>
          <a:xfrm>
            <a:off x="1143000" y="5588675"/>
            <a:ext cx="11352109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6765"/>
              </a:lnSpc>
              <a:buNone/>
            </a:pPr>
            <a:r>
              <a:rPr lang="en-US" sz="180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 </a:t>
            </a:r>
            <a:r>
              <a:rPr lang="en-US" sz="1800" b="1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34,672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11615499" y="5398175"/>
            <a:ext cx="2729508" cy="114300"/>
          </a:xfrm>
          <a:prstGeom prst="rect">
            <a:avLst/>
          </a:prstGeom>
          <a:solidFill>
            <a:srgbClr val="1E3A5F">
              <a:alpha val="60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11615499" y="5588675"/>
            <a:ext cx="3002459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6765"/>
              </a:lnSpc>
              <a:buNone/>
            </a:pPr>
            <a:r>
              <a:rPr lang="en-US" sz="180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Validation </a:t>
            </a:r>
            <a:r>
              <a:rPr lang="en-US" sz="1800" b="1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9,170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14497407" y="5398175"/>
            <a:ext cx="2647593" cy="114300"/>
          </a:xfrm>
          <a:prstGeom prst="rect">
            <a:avLst/>
          </a:prstGeom>
          <a:solidFill>
            <a:srgbClr val="1E3A5F">
              <a:alpha val="40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14497407" y="5588675"/>
            <a:ext cx="2912352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6765"/>
              </a:lnSpc>
              <a:buNone/>
            </a:pPr>
            <a:r>
              <a:rPr lang="en-US" sz="180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</a:t>
            </a:r>
            <a:r>
              <a:rPr lang="en-US" sz="1800" b="1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8,895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1143000" y="6255425"/>
            <a:ext cx="1809750" cy="457200"/>
          </a:xfrm>
          <a:prstGeom prst="rect">
            <a:avLst/>
          </a:prstGeom>
          <a:solidFill>
            <a:srgbClr val="3C6B63"/>
          </a:solidFill>
          <a:ln/>
        </p:spPr>
      </p:sp>
      <p:sp>
        <p:nvSpPr>
          <p:cNvPr id="16" name="Text 14"/>
          <p:cNvSpPr/>
          <p:nvPr/>
        </p:nvSpPr>
        <p:spPr>
          <a:xfrm>
            <a:off x="3181350" y="6255425"/>
            <a:ext cx="4469778" cy="68770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lnSpc>
                <a:spcPct val="136149"/>
              </a:lnSpc>
              <a:buNone/>
            </a:pPr>
            <a:r>
              <a:rPr lang="en-US" sz="195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 Prediction Population — </a:t>
            </a:r>
            <a:r>
              <a:rPr lang="en-US" sz="3300" b="1" dirty="0">
                <a:solidFill>
                  <a:srgbClr val="3C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8,463</a:t>
            </a:r>
            <a:endParaRPr lang="en-US" sz="1950" dirty="0"/>
          </a:p>
        </p:txBody>
      </p:sp>
      <p:sp>
        <p:nvSpPr>
          <p:cNvPr id="17" name="Shape 15"/>
          <p:cNvSpPr/>
          <p:nvPr/>
        </p:nvSpPr>
        <p:spPr>
          <a:xfrm>
            <a:off x="1143000" y="9159716"/>
            <a:ext cx="16002000" cy="15240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1143000" y="9384506"/>
            <a:ext cx="16482060" cy="4071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4549"/>
              </a:lnSpc>
              <a:buNone/>
            </a:pPr>
            <a:r>
              <a:rPr lang="en-US" sz="1875" b="1" dirty="0">
                <a:solidFill>
                  <a:srgbClr val="112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development болон final prediction гэсэн хоёр өөр population байсан.</a:t>
            </a:r>
            <a:endParaRPr lang="en-US" sz="1875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685800"/>
            <a:ext cx="17602200" cy="5928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97067"/>
              </a:lnSpc>
              <a:buNone/>
            </a:pPr>
            <a:r>
              <a:rPr lang="en-US" sz="3900" b="1" kern="0" spc="-58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 Engineering </a:t>
            </a:r>
            <a:r>
              <a:rPr lang="en-US" sz="2400" kern="0" spc="-58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(шинж чанар боловсруулах)</a:t>
            </a:r>
            <a:endParaRPr lang="en-US" sz="3900" dirty="0"/>
          </a:p>
        </p:txBody>
      </p:sp>
      <p:sp>
        <p:nvSpPr>
          <p:cNvPr id="3" name="Shape 1"/>
          <p:cNvSpPr/>
          <p:nvPr/>
        </p:nvSpPr>
        <p:spPr>
          <a:xfrm>
            <a:off x="1143000" y="1450062"/>
            <a:ext cx="16002000" cy="15240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623102" y="2740938"/>
            <a:ext cx="1117997" cy="4071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34549"/>
              </a:lnSpc>
              <a:buNone/>
            </a:pPr>
            <a:r>
              <a:rPr lang="en-US" sz="1875" b="1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Raw Data</a:t>
            </a:r>
            <a:endParaRPr lang="en-US" sz="1875" dirty="0"/>
          </a:p>
        </p:txBody>
      </p:sp>
      <p:sp>
        <p:nvSpPr>
          <p:cNvPr id="5" name="Text 3"/>
          <p:cNvSpPr/>
          <p:nvPr/>
        </p:nvSpPr>
        <p:spPr>
          <a:xfrm>
            <a:off x="9086850" y="3281482"/>
            <a:ext cx="190500" cy="3924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6765"/>
              </a:lnSpc>
              <a:buNone/>
            </a:pPr>
            <a:r>
              <a:rPr lang="en-US" sz="1800" dirty="0">
                <a:solidFill>
                  <a:srgbClr val="201E1D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036719" y="3807262"/>
            <a:ext cx="2436019" cy="4071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4549"/>
              </a:lnSpc>
              <a:buNone/>
            </a:pPr>
            <a:r>
              <a:rPr lang="en-US" sz="1875" b="1" dirty="0">
                <a:solidFill>
                  <a:srgbClr val="112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 Engineering</a:t>
            </a:r>
            <a:endParaRPr lang="en-US" sz="1875" dirty="0"/>
          </a:p>
        </p:txBody>
      </p:sp>
      <p:sp>
        <p:nvSpPr>
          <p:cNvPr id="7" name="Text 5"/>
          <p:cNvSpPr/>
          <p:nvPr/>
        </p:nvSpPr>
        <p:spPr>
          <a:xfrm>
            <a:off x="9086850" y="4347805"/>
            <a:ext cx="190500" cy="3924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6765"/>
              </a:lnSpc>
              <a:buNone/>
            </a:pPr>
            <a:r>
              <a:rPr lang="en-US" sz="1800" dirty="0">
                <a:solidFill>
                  <a:srgbClr val="201E1D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9136380" y="4873585"/>
            <a:ext cx="15240" cy="1738313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1662493" y="4873585"/>
            <a:ext cx="7430643" cy="6581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lnSpc>
                <a:spcPct val="133402"/>
              </a:lnSpc>
              <a:buNone/>
            </a:pPr>
            <a:r>
              <a:rPr lang="en-US" sz="3150" b="1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Behavioral</a:t>
            </a:r>
            <a:endParaRPr lang="en-US" sz="3150" dirty="0"/>
          </a:p>
        </p:txBody>
      </p:sp>
      <p:sp>
        <p:nvSpPr>
          <p:cNvPr id="10" name="Text 8"/>
          <p:cNvSpPr/>
          <p:nvPr/>
        </p:nvSpPr>
        <p:spPr>
          <a:xfrm>
            <a:off x="1662493" y="5550813"/>
            <a:ext cx="7430643" cy="6877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lnSpc>
                <a:spcPct val="133203"/>
              </a:lnSpc>
              <a:buNone/>
            </a:pPr>
            <a:r>
              <a:rPr lang="en-US" sz="3300" b="1" dirty="0">
                <a:solidFill>
                  <a:srgbClr val="112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</a:t>
            </a:r>
            <a:endParaRPr lang="en-US" sz="3300" dirty="0"/>
          </a:p>
        </p:txBody>
      </p:sp>
      <p:sp>
        <p:nvSpPr>
          <p:cNvPr id="11" name="Text 9"/>
          <p:cNvSpPr/>
          <p:nvPr/>
        </p:nvSpPr>
        <p:spPr>
          <a:xfrm>
            <a:off x="1662493" y="6257568"/>
            <a:ext cx="7430643" cy="3924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lnSpc>
                <a:spcPct val="136765"/>
              </a:lnSpc>
              <a:buNone/>
            </a:pPr>
            <a:r>
              <a:rPr lang="en-US" sz="1800" dirty="0">
                <a:solidFill>
                  <a:srgbClr val="201E1D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Transaction · Sessions · Notification · Recency · Number change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9194863" y="4873585"/>
            <a:ext cx="7430643" cy="6581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lnSpc>
                <a:spcPct val="133402"/>
              </a:lnSpc>
              <a:buNone/>
            </a:pPr>
            <a:r>
              <a:rPr lang="en-US" sz="3150" b="1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Financial</a:t>
            </a:r>
            <a:endParaRPr lang="en-US" sz="3150" dirty="0"/>
          </a:p>
        </p:txBody>
      </p:sp>
      <p:sp>
        <p:nvSpPr>
          <p:cNvPr id="13" name="Text 11"/>
          <p:cNvSpPr/>
          <p:nvPr/>
        </p:nvSpPr>
        <p:spPr>
          <a:xfrm>
            <a:off x="9194863" y="5550813"/>
            <a:ext cx="7430643" cy="6877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lnSpc>
                <a:spcPct val="133203"/>
              </a:lnSpc>
              <a:buNone/>
            </a:pPr>
            <a:r>
              <a:rPr lang="en-US" sz="3300" b="1" dirty="0">
                <a:solidFill>
                  <a:srgbClr val="112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3300" dirty="0"/>
          </a:p>
        </p:txBody>
      </p:sp>
      <p:sp>
        <p:nvSpPr>
          <p:cNvPr id="14" name="Text 12"/>
          <p:cNvSpPr/>
          <p:nvPr/>
        </p:nvSpPr>
        <p:spPr>
          <a:xfrm>
            <a:off x="9194863" y="6257568"/>
            <a:ext cx="7430643" cy="3924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lnSpc>
                <a:spcPct val="136765"/>
              </a:lnSpc>
              <a:buNone/>
            </a:pPr>
            <a:r>
              <a:rPr lang="en-US" sz="1800" dirty="0">
                <a:solidFill>
                  <a:srgbClr val="201E1D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Balance · Credit limit · Unpaid amount · DPD history · Ratios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9086850" y="6783348"/>
            <a:ext cx="190500" cy="3924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6765"/>
              </a:lnSpc>
              <a:buNone/>
            </a:pPr>
            <a:r>
              <a:rPr lang="en-US" sz="1800" dirty="0">
                <a:solidFill>
                  <a:srgbClr val="201E1D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7573328" y="7309128"/>
            <a:ext cx="3455349" cy="6581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3402"/>
              </a:lnSpc>
              <a:buNone/>
            </a:pPr>
            <a:r>
              <a:rPr lang="en-US" sz="3150" b="1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 Final Features</a:t>
            </a:r>
            <a:endParaRPr lang="en-US" sz="3150" dirty="0"/>
          </a:p>
        </p:txBody>
      </p:sp>
      <p:sp>
        <p:nvSpPr>
          <p:cNvPr id="17" name="Shape 15"/>
          <p:cNvSpPr/>
          <p:nvPr/>
        </p:nvSpPr>
        <p:spPr>
          <a:xfrm>
            <a:off x="1143000" y="9204960"/>
            <a:ext cx="16002000" cy="15240"/>
          </a:xfrm>
          <a:prstGeom prst="rect">
            <a:avLst/>
          </a:prstGeom>
          <a:solidFill>
            <a:srgbClr val="201E1E">
              <a:alpha val="30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1143000" y="9410700"/>
            <a:ext cx="1648206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2353"/>
              </a:lnSpc>
              <a:buNone/>
            </a:pPr>
            <a:r>
              <a:rPr lang="en-US" sz="1800" dirty="0">
                <a:solidFill>
                  <a:srgbClr val="201E1D">
                    <a:alpha val="7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Behavioral цонх: 7 / 30 / 60 / 90 хоног. Жишээ: Balance / Limit → utilization-related ratio.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685800"/>
            <a:ext cx="17602200" cy="5928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97067"/>
              </a:lnSpc>
              <a:buNone/>
            </a:pPr>
            <a:r>
              <a:rPr lang="en-US" sz="3900" b="1" kern="0" spc="-58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Train, Validation, Test — яагаад тусад нь хуваасан бэ?</a:t>
            </a:r>
            <a:endParaRPr lang="en-US" sz="3900" dirty="0"/>
          </a:p>
        </p:txBody>
      </p:sp>
      <p:sp>
        <p:nvSpPr>
          <p:cNvPr id="3" name="Shape 1"/>
          <p:cNvSpPr/>
          <p:nvPr/>
        </p:nvSpPr>
        <p:spPr>
          <a:xfrm>
            <a:off x="1143000" y="1450062"/>
            <a:ext cx="16002000" cy="15240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6200567" y="3958114"/>
            <a:ext cx="15240" cy="2018824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610618" y="3958114"/>
            <a:ext cx="5856137" cy="6581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lnSpc>
                <a:spcPct val="133402"/>
              </a:lnSpc>
              <a:buNone/>
            </a:pPr>
            <a:r>
              <a:rPr lang="en-US" sz="3150" b="1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</a:t>
            </a:r>
            <a:endParaRPr lang="en-US" sz="3150" dirty="0"/>
          </a:p>
        </p:txBody>
      </p:sp>
      <p:sp>
        <p:nvSpPr>
          <p:cNvPr id="6" name="Text 4"/>
          <p:cNvSpPr/>
          <p:nvPr/>
        </p:nvSpPr>
        <p:spPr>
          <a:xfrm>
            <a:off x="610618" y="4635342"/>
            <a:ext cx="5856137" cy="9534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lnSpc>
                <a:spcPct val="134972"/>
              </a:lnSpc>
              <a:buNone/>
            </a:pPr>
            <a:r>
              <a:rPr lang="en-US" sz="4650" b="1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34,672</a:t>
            </a:r>
            <a:endParaRPr lang="en-US" sz="4650" dirty="0"/>
          </a:p>
        </p:txBody>
      </p:sp>
      <p:sp>
        <p:nvSpPr>
          <p:cNvPr id="7" name="Text 5"/>
          <p:cNvSpPr/>
          <p:nvPr/>
        </p:nvSpPr>
        <p:spPr>
          <a:xfrm>
            <a:off x="610618" y="5607844"/>
            <a:ext cx="5856137" cy="4071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lnSpc>
                <a:spcPct val="134549"/>
              </a:lnSpc>
              <a:buNone/>
            </a:pPr>
            <a:r>
              <a:rPr lang="en-US" sz="1875" dirty="0">
                <a:solidFill>
                  <a:srgbClr val="201E1D">
                    <a:alpha val="6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сургах</a:t>
            </a:r>
            <a:endParaRPr lang="en-US" sz="1875" dirty="0"/>
          </a:p>
        </p:txBody>
      </p:sp>
      <p:sp>
        <p:nvSpPr>
          <p:cNvPr id="8" name="Shape 6"/>
          <p:cNvSpPr/>
          <p:nvPr/>
        </p:nvSpPr>
        <p:spPr>
          <a:xfrm>
            <a:off x="11539687" y="3958114"/>
            <a:ext cx="15240" cy="2018824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5949613" y="3958114"/>
            <a:ext cx="5856268" cy="6581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lnSpc>
                <a:spcPct val="133402"/>
              </a:lnSpc>
              <a:buNone/>
            </a:pPr>
            <a:r>
              <a:rPr lang="en-US" sz="3150" b="1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Validation</a:t>
            </a:r>
            <a:endParaRPr lang="en-US" sz="3150" dirty="0"/>
          </a:p>
        </p:txBody>
      </p:sp>
      <p:sp>
        <p:nvSpPr>
          <p:cNvPr id="10" name="Text 8"/>
          <p:cNvSpPr/>
          <p:nvPr/>
        </p:nvSpPr>
        <p:spPr>
          <a:xfrm>
            <a:off x="5949613" y="4635342"/>
            <a:ext cx="5856268" cy="9534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lnSpc>
                <a:spcPct val="134972"/>
              </a:lnSpc>
              <a:buNone/>
            </a:pPr>
            <a:r>
              <a:rPr lang="en-US" sz="4650" b="1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9,170</a:t>
            </a:r>
            <a:endParaRPr lang="en-US" sz="4650" dirty="0"/>
          </a:p>
        </p:txBody>
      </p:sp>
      <p:sp>
        <p:nvSpPr>
          <p:cNvPr id="11" name="Text 9"/>
          <p:cNvSpPr/>
          <p:nvPr/>
        </p:nvSpPr>
        <p:spPr>
          <a:xfrm>
            <a:off x="5949613" y="5607844"/>
            <a:ext cx="5856268" cy="4071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lnSpc>
                <a:spcPct val="134549"/>
              </a:lnSpc>
              <a:buNone/>
            </a:pPr>
            <a:r>
              <a:rPr lang="en-US" sz="1875" dirty="0">
                <a:solidFill>
                  <a:srgbClr val="201E1D">
                    <a:alpha val="6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/ threshold сонголт</a:t>
            </a:r>
            <a:endParaRPr lang="en-US" sz="1875" dirty="0"/>
          </a:p>
        </p:txBody>
      </p:sp>
      <p:sp>
        <p:nvSpPr>
          <p:cNvPr id="12" name="Text 10"/>
          <p:cNvSpPr/>
          <p:nvPr/>
        </p:nvSpPr>
        <p:spPr>
          <a:xfrm>
            <a:off x="11288732" y="3958114"/>
            <a:ext cx="5856268" cy="6581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lnSpc>
                <a:spcPct val="133402"/>
              </a:lnSpc>
              <a:buNone/>
            </a:pPr>
            <a:r>
              <a:rPr lang="en-US" sz="3150" b="1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</a:t>
            </a:r>
            <a:endParaRPr lang="en-US" sz="3150" dirty="0"/>
          </a:p>
        </p:txBody>
      </p:sp>
      <p:sp>
        <p:nvSpPr>
          <p:cNvPr id="13" name="Text 11"/>
          <p:cNvSpPr/>
          <p:nvPr/>
        </p:nvSpPr>
        <p:spPr>
          <a:xfrm>
            <a:off x="11288732" y="4635342"/>
            <a:ext cx="5856268" cy="9534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lnSpc>
                <a:spcPct val="134972"/>
              </a:lnSpc>
              <a:buNone/>
            </a:pPr>
            <a:r>
              <a:rPr lang="en-US" sz="4650" b="1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8,895</a:t>
            </a:r>
            <a:endParaRPr lang="en-US" sz="4650" dirty="0"/>
          </a:p>
        </p:txBody>
      </p:sp>
      <p:sp>
        <p:nvSpPr>
          <p:cNvPr id="14" name="Text 12"/>
          <p:cNvSpPr/>
          <p:nvPr/>
        </p:nvSpPr>
        <p:spPr>
          <a:xfrm>
            <a:off x="11288732" y="5607844"/>
            <a:ext cx="5856268" cy="4071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lnSpc>
                <a:spcPct val="134549"/>
              </a:lnSpc>
              <a:buNone/>
            </a:pPr>
            <a:r>
              <a:rPr lang="en-US" sz="1875" dirty="0">
                <a:solidFill>
                  <a:srgbClr val="201E1D">
                    <a:alpha val="6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 evaluation</a:t>
            </a:r>
            <a:endParaRPr lang="en-US" sz="1875" dirty="0"/>
          </a:p>
        </p:txBody>
      </p:sp>
      <p:sp>
        <p:nvSpPr>
          <p:cNvPr id="17" name="Text 15"/>
          <p:cNvSpPr/>
          <p:nvPr/>
        </p:nvSpPr>
        <p:spPr>
          <a:xfrm>
            <a:off x="1143000" y="6884075"/>
            <a:ext cx="2829973" cy="42195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6149"/>
              </a:lnSpc>
              <a:buNone/>
            </a:pPr>
            <a:endParaRPr lang="en-US" sz="1950" dirty="0"/>
          </a:p>
        </p:txBody>
      </p:sp>
      <p:sp>
        <p:nvSpPr>
          <p:cNvPr id="18" name="Text 16"/>
          <p:cNvSpPr/>
          <p:nvPr/>
        </p:nvSpPr>
        <p:spPr>
          <a:xfrm>
            <a:off x="4382453" y="6884075"/>
            <a:ext cx="2153388" cy="42195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6149"/>
              </a:lnSpc>
              <a:buNone/>
            </a:pPr>
            <a:endParaRPr lang="en-US" sz="1950" dirty="0"/>
          </a:p>
        </p:txBody>
      </p:sp>
      <p:sp>
        <p:nvSpPr>
          <p:cNvPr id="19" name="Text 17"/>
          <p:cNvSpPr/>
          <p:nvPr/>
        </p:nvSpPr>
        <p:spPr>
          <a:xfrm>
            <a:off x="7006828" y="6884075"/>
            <a:ext cx="2518005" cy="42195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6149"/>
              </a:lnSpc>
              <a:buNone/>
            </a:pPr>
            <a:endParaRPr lang="en-US" sz="1950" dirty="0"/>
          </a:p>
        </p:txBody>
      </p:sp>
      <p:sp>
        <p:nvSpPr>
          <p:cNvPr id="20" name="Shape 18"/>
          <p:cNvSpPr/>
          <p:nvPr/>
        </p:nvSpPr>
        <p:spPr>
          <a:xfrm>
            <a:off x="1143000" y="9159716"/>
            <a:ext cx="16002000" cy="15240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1143000" y="9384506"/>
            <a:ext cx="16482060" cy="4071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4549"/>
              </a:lnSpc>
              <a:buNone/>
            </a:pPr>
            <a:r>
              <a:rPr lang="en-US" sz="1875" b="1" dirty="0">
                <a:solidFill>
                  <a:srgbClr val="112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Иймээс Test performance-ийг бүрэн unseen-credit generalization гэж тайлбарлахад болгоомжтой хандсан.</a:t>
            </a:r>
            <a:endParaRPr lang="en-US" sz="1875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685800"/>
            <a:ext cx="17602200" cy="5928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97067"/>
              </a:lnSpc>
              <a:buNone/>
            </a:pPr>
            <a:r>
              <a:rPr lang="en-US" sz="3900" b="1" kern="0" spc="-58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Selection </a:t>
            </a:r>
            <a:r>
              <a:rPr lang="en-US" sz="2400" kern="0" spc="-58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(загвар сонголт)</a:t>
            </a:r>
            <a:endParaRPr lang="en-US" sz="3900" dirty="0"/>
          </a:p>
        </p:txBody>
      </p:sp>
      <p:sp>
        <p:nvSpPr>
          <p:cNvPr id="3" name="Shape 1"/>
          <p:cNvSpPr/>
          <p:nvPr/>
        </p:nvSpPr>
        <p:spPr>
          <a:xfrm>
            <a:off x="1143000" y="1450062"/>
            <a:ext cx="16002000" cy="15240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14252762" y="3837980"/>
            <a:ext cx="13048298" cy="746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6765"/>
              </a:lnSpc>
              <a:buNone/>
            </a:pPr>
            <a:r>
              <a:rPr lang="en-US" sz="1800" dirty="0">
                <a:solidFill>
                  <a:srgbClr val="201E1D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ROC-AUC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5925800" y="3569851"/>
            <a:ext cx="1219200" cy="746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r">
              <a:lnSpc>
                <a:spcPct val="136765"/>
              </a:lnSpc>
              <a:buNone/>
            </a:pPr>
            <a:r>
              <a:rPr lang="en-US" sz="1800" dirty="0">
                <a:solidFill>
                  <a:srgbClr val="201E1D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PR-AUC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143000" y="4469011"/>
            <a:ext cx="2200275" cy="42195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6149"/>
              </a:lnSpc>
              <a:buNone/>
            </a:pPr>
            <a:r>
              <a:rPr lang="en-US" sz="1950" b="1" dirty="0">
                <a:solidFill>
                  <a:srgbClr val="112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XGBoost</a:t>
            </a:r>
            <a:endParaRPr lang="en-US" sz="1950" dirty="0"/>
          </a:p>
        </p:txBody>
      </p:sp>
      <p:sp>
        <p:nvSpPr>
          <p:cNvPr id="7" name="Shape 5"/>
          <p:cNvSpPr/>
          <p:nvPr/>
        </p:nvSpPr>
        <p:spPr>
          <a:xfrm>
            <a:off x="3333750" y="4651415"/>
            <a:ext cx="11487150" cy="19050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3333750" y="4584740"/>
            <a:ext cx="10108645" cy="1524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9" name="Text 7"/>
          <p:cNvSpPr/>
          <p:nvPr/>
        </p:nvSpPr>
        <p:spPr>
          <a:xfrm>
            <a:off x="14954250" y="4476393"/>
            <a:ext cx="933450" cy="4071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4549"/>
              </a:lnSpc>
              <a:buNone/>
            </a:pPr>
            <a:r>
              <a:rPr lang="en-US" sz="1875" b="1" dirty="0">
                <a:solidFill>
                  <a:srgbClr val="112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0.6175</a:t>
            </a:r>
            <a:endParaRPr lang="en-US" sz="1875" dirty="0"/>
          </a:p>
        </p:txBody>
      </p:sp>
      <p:sp>
        <p:nvSpPr>
          <p:cNvPr id="10" name="Text 8"/>
          <p:cNvSpPr/>
          <p:nvPr/>
        </p:nvSpPr>
        <p:spPr>
          <a:xfrm>
            <a:off x="15925800" y="4476393"/>
            <a:ext cx="1219200" cy="4071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lnSpc>
                <a:spcPct val="134549"/>
              </a:lnSpc>
              <a:buNone/>
            </a:pPr>
            <a:r>
              <a:rPr lang="en-US" sz="1875" b="1" dirty="0">
                <a:solidFill>
                  <a:srgbClr val="112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0.3875</a:t>
            </a:r>
            <a:endParaRPr lang="en-US" sz="1875" dirty="0"/>
          </a:p>
        </p:txBody>
      </p:sp>
      <p:sp>
        <p:nvSpPr>
          <p:cNvPr id="11" name="Text 9"/>
          <p:cNvSpPr/>
          <p:nvPr/>
        </p:nvSpPr>
        <p:spPr>
          <a:xfrm>
            <a:off x="1143000" y="5043368"/>
            <a:ext cx="2200275" cy="42195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6149"/>
              </a:lnSpc>
              <a:buNone/>
            </a:pPr>
            <a:r>
              <a:rPr lang="en-US" sz="1950" dirty="0">
                <a:solidFill>
                  <a:srgbClr val="201E1D">
                    <a:alpha val="7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LightGBM</a:t>
            </a:r>
            <a:endParaRPr lang="en-US" sz="1950" dirty="0"/>
          </a:p>
        </p:txBody>
      </p:sp>
      <p:sp>
        <p:nvSpPr>
          <p:cNvPr id="12" name="Shape 10"/>
          <p:cNvSpPr/>
          <p:nvPr/>
        </p:nvSpPr>
        <p:spPr>
          <a:xfrm>
            <a:off x="3333750" y="5225772"/>
            <a:ext cx="11487150" cy="19050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3333750" y="5159097"/>
            <a:ext cx="8959929" cy="152400"/>
          </a:xfrm>
          <a:prstGeom prst="rect">
            <a:avLst/>
          </a:prstGeom>
          <a:solidFill>
            <a:srgbClr val="201E1D">
              <a:alpha val="35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14954250" y="5050750"/>
            <a:ext cx="933450" cy="4071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4549"/>
              </a:lnSpc>
              <a:buNone/>
            </a:pPr>
            <a:r>
              <a:rPr lang="en-US" sz="1875" dirty="0">
                <a:solidFill>
                  <a:srgbClr val="201E1D">
                    <a:alpha val="7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0.6145</a:t>
            </a:r>
            <a:endParaRPr lang="en-US" sz="1875" dirty="0"/>
          </a:p>
        </p:txBody>
      </p:sp>
      <p:sp>
        <p:nvSpPr>
          <p:cNvPr id="15" name="Text 13"/>
          <p:cNvSpPr/>
          <p:nvPr/>
        </p:nvSpPr>
        <p:spPr>
          <a:xfrm>
            <a:off x="15925800" y="5050750"/>
            <a:ext cx="1219200" cy="4071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lnSpc>
                <a:spcPct val="134549"/>
              </a:lnSpc>
              <a:buNone/>
            </a:pPr>
            <a:r>
              <a:rPr lang="en-US" sz="1875" dirty="0">
                <a:solidFill>
                  <a:srgbClr val="201E1D">
                    <a:alpha val="7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0.3744</a:t>
            </a:r>
            <a:endParaRPr lang="en-US" sz="1875" dirty="0"/>
          </a:p>
        </p:txBody>
      </p:sp>
      <p:sp>
        <p:nvSpPr>
          <p:cNvPr id="16" name="Text 14"/>
          <p:cNvSpPr/>
          <p:nvPr/>
        </p:nvSpPr>
        <p:spPr>
          <a:xfrm>
            <a:off x="1143000" y="5617726"/>
            <a:ext cx="2200275" cy="42195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6149"/>
              </a:lnSpc>
              <a:buNone/>
            </a:pPr>
            <a:r>
              <a:rPr lang="en-US" sz="1950" dirty="0">
                <a:solidFill>
                  <a:srgbClr val="201E1D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MLP Top 33</a:t>
            </a:r>
            <a:endParaRPr lang="en-US" sz="1950" dirty="0"/>
          </a:p>
        </p:txBody>
      </p:sp>
      <p:sp>
        <p:nvSpPr>
          <p:cNvPr id="17" name="Shape 15"/>
          <p:cNvSpPr/>
          <p:nvPr/>
        </p:nvSpPr>
        <p:spPr>
          <a:xfrm>
            <a:off x="3333750" y="5800130"/>
            <a:ext cx="11487150" cy="19050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3333750" y="5733455"/>
            <a:ext cx="7926110" cy="152400"/>
          </a:xfrm>
          <a:prstGeom prst="rect">
            <a:avLst/>
          </a:prstGeom>
          <a:solidFill>
            <a:srgbClr val="201E1D">
              <a:alpha val="22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14954250" y="5625108"/>
            <a:ext cx="933450" cy="4071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4549"/>
              </a:lnSpc>
              <a:buNone/>
            </a:pPr>
            <a:r>
              <a:rPr lang="en-US" sz="1875" dirty="0">
                <a:solidFill>
                  <a:srgbClr val="201E1D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0.6052</a:t>
            </a:r>
            <a:endParaRPr lang="en-US" sz="1875" dirty="0"/>
          </a:p>
        </p:txBody>
      </p:sp>
      <p:sp>
        <p:nvSpPr>
          <p:cNvPr id="20" name="Text 18"/>
          <p:cNvSpPr/>
          <p:nvPr/>
        </p:nvSpPr>
        <p:spPr>
          <a:xfrm>
            <a:off x="15925800" y="5625108"/>
            <a:ext cx="1219200" cy="4071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lnSpc>
                <a:spcPct val="134549"/>
              </a:lnSpc>
              <a:buNone/>
            </a:pPr>
            <a:r>
              <a:rPr lang="en-US" sz="1875" dirty="0">
                <a:solidFill>
                  <a:srgbClr val="201E1D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0.3730</a:t>
            </a:r>
            <a:endParaRPr lang="en-US" sz="1875" dirty="0"/>
          </a:p>
        </p:txBody>
      </p:sp>
      <p:sp>
        <p:nvSpPr>
          <p:cNvPr id="21" name="Text 19"/>
          <p:cNvSpPr/>
          <p:nvPr/>
        </p:nvSpPr>
        <p:spPr>
          <a:xfrm>
            <a:off x="1143000" y="6192084"/>
            <a:ext cx="2200275" cy="42195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6149"/>
              </a:lnSpc>
              <a:buNone/>
            </a:pPr>
            <a:r>
              <a:rPr lang="en-US" sz="1950" dirty="0">
                <a:solidFill>
                  <a:srgbClr val="201E1D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MLP Top 20</a:t>
            </a:r>
            <a:endParaRPr lang="en-US" sz="1950" dirty="0"/>
          </a:p>
        </p:txBody>
      </p:sp>
      <p:sp>
        <p:nvSpPr>
          <p:cNvPr id="22" name="Shape 20"/>
          <p:cNvSpPr/>
          <p:nvPr/>
        </p:nvSpPr>
        <p:spPr>
          <a:xfrm>
            <a:off x="3333750" y="6374487"/>
            <a:ext cx="11487150" cy="19050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3333750" y="6307812"/>
            <a:ext cx="7351752" cy="152400"/>
          </a:xfrm>
          <a:prstGeom prst="rect">
            <a:avLst/>
          </a:prstGeom>
          <a:solidFill>
            <a:srgbClr val="201E1D">
              <a:alpha val="22000"/>
            </a:srgbClr>
          </a:solidFill>
          <a:ln/>
        </p:spPr>
      </p:sp>
      <p:sp>
        <p:nvSpPr>
          <p:cNvPr id="24" name="Text 22"/>
          <p:cNvSpPr/>
          <p:nvPr/>
        </p:nvSpPr>
        <p:spPr>
          <a:xfrm>
            <a:off x="14954250" y="6199465"/>
            <a:ext cx="933450" cy="4071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4549"/>
              </a:lnSpc>
              <a:buNone/>
            </a:pPr>
            <a:r>
              <a:rPr lang="en-US" sz="1875" dirty="0">
                <a:solidFill>
                  <a:srgbClr val="201E1D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0.5980</a:t>
            </a:r>
            <a:endParaRPr lang="en-US" sz="1875" dirty="0"/>
          </a:p>
        </p:txBody>
      </p:sp>
      <p:sp>
        <p:nvSpPr>
          <p:cNvPr id="25" name="Text 23"/>
          <p:cNvSpPr/>
          <p:nvPr/>
        </p:nvSpPr>
        <p:spPr>
          <a:xfrm>
            <a:off x="15925800" y="6199465"/>
            <a:ext cx="1219200" cy="4071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lnSpc>
                <a:spcPct val="134549"/>
              </a:lnSpc>
              <a:buNone/>
            </a:pPr>
            <a:r>
              <a:rPr lang="en-US" sz="1875" dirty="0">
                <a:solidFill>
                  <a:srgbClr val="201E1D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0.3641</a:t>
            </a:r>
            <a:endParaRPr lang="en-US" sz="1875" dirty="0"/>
          </a:p>
        </p:txBody>
      </p:sp>
      <p:sp>
        <p:nvSpPr>
          <p:cNvPr id="26" name="Text 24"/>
          <p:cNvSpPr/>
          <p:nvPr/>
        </p:nvSpPr>
        <p:spPr>
          <a:xfrm>
            <a:off x="1143000" y="6766441"/>
            <a:ext cx="2200275" cy="42195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6149"/>
              </a:lnSpc>
              <a:buNone/>
            </a:pPr>
            <a:r>
              <a:rPr lang="en-US" sz="1950" dirty="0">
                <a:solidFill>
                  <a:srgbClr val="201E1D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MLP Top 10</a:t>
            </a:r>
            <a:endParaRPr lang="en-US" sz="1950" dirty="0"/>
          </a:p>
        </p:txBody>
      </p:sp>
      <p:sp>
        <p:nvSpPr>
          <p:cNvPr id="27" name="Shape 25"/>
          <p:cNvSpPr/>
          <p:nvPr/>
        </p:nvSpPr>
        <p:spPr>
          <a:xfrm>
            <a:off x="3333750" y="6948845"/>
            <a:ext cx="11487150" cy="19050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3333750" y="6882170"/>
            <a:ext cx="7351752" cy="152400"/>
          </a:xfrm>
          <a:prstGeom prst="rect">
            <a:avLst/>
          </a:prstGeom>
          <a:solidFill>
            <a:srgbClr val="201E1D">
              <a:alpha val="22000"/>
            </a:srgbClr>
          </a:solidFill>
          <a:ln/>
        </p:spPr>
      </p:sp>
      <p:sp>
        <p:nvSpPr>
          <p:cNvPr id="29" name="Text 27"/>
          <p:cNvSpPr/>
          <p:nvPr/>
        </p:nvSpPr>
        <p:spPr>
          <a:xfrm>
            <a:off x="14954250" y="6773823"/>
            <a:ext cx="933450" cy="4071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4549"/>
              </a:lnSpc>
              <a:buNone/>
            </a:pPr>
            <a:r>
              <a:rPr lang="en-US" sz="1875" dirty="0">
                <a:solidFill>
                  <a:srgbClr val="201E1D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0.5976</a:t>
            </a:r>
            <a:endParaRPr lang="en-US" sz="1875" dirty="0"/>
          </a:p>
        </p:txBody>
      </p:sp>
      <p:sp>
        <p:nvSpPr>
          <p:cNvPr id="30" name="Text 28"/>
          <p:cNvSpPr/>
          <p:nvPr/>
        </p:nvSpPr>
        <p:spPr>
          <a:xfrm>
            <a:off x="15925800" y="6773823"/>
            <a:ext cx="1219200" cy="4071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lnSpc>
                <a:spcPct val="134549"/>
              </a:lnSpc>
              <a:buNone/>
            </a:pPr>
            <a:r>
              <a:rPr lang="en-US" sz="1875" dirty="0">
                <a:solidFill>
                  <a:srgbClr val="201E1D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0.3647</a:t>
            </a:r>
            <a:endParaRPr lang="en-US" sz="1875" dirty="0"/>
          </a:p>
        </p:txBody>
      </p:sp>
      <p:sp>
        <p:nvSpPr>
          <p:cNvPr id="31" name="Shape 29"/>
          <p:cNvSpPr/>
          <p:nvPr/>
        </p:nvSpPr>
        <p:spPr>
          <a:xfrm>
            <a:off x="1143000" y="9159716"/>
            <a:ext cx="16002000" cy="15240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32" name="Text 30"/>
          <p:cNvSpPr/>
          <p:nvPr/>
        </p:nvSpPr>
        <p:spPr>
          <a:xfrm>
            <a:off x="1143000" y="9384506"/>
            <a:ext cx="16482060" cy="4071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4549"/>
              </a:lnSpc>
              <a:buNone/>
            </a:pPr>
            <a:r>
              <a:rPr lang="en-US" sz="1875" b="1" dirty="0">
                <a:solidFill>
                  <a:srgbClr val="112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XGBoost — туршсан бүх model-уудаас хоёр metric дээр хамгийн өндөр. LightGBM-тэй ялгаа бага байсан.</a:t>
            </a:r>
            <a:endParaRPr lang="en-US" sz="1875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685800"/>
            <a:ext cx="17602200" cy="5928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97067"/>
              </a:lnSpc>
              <a:buNone/>
            </a:pPr>
            <a:r>
              <a:rPr lang="en-US" sz="3900" b="1" kern="0" spc="-58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 XGBoost-ийн үр дүн</a:t>
            </a:r>
            <a:endParaRPr lang="en-US" sz="3900" dirty="0"/>
          </a:p>
        </p:txBody>
      </p:sp>
      <p:sp>
        <p:nvSpPr>
          <p:cNvPr id="3" name="Shape 1"/>
          <p:cNvSpPr/>
          <p:nvPr/>
        </p:nvSpPr>
        <p:spPr>
          <a:xfrm>
            <a:off x="1143000" y="1450062"/>
            <a:ext cx="16002000" cy="15240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1143000" y="3213140"/>
            <a:ext cx="7902131" cy="4071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4549"/>
              </a:lnSpc>
              <a:buNone/>
            </a:pPr>
            <a:r>
              <a:rPr lang="en-US" sz="1875" dirty="0">
                <a:solidFill>
                  <a:srgbClr val="201E1D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Validation</a:t>
            </a:r>
            <a:endParaRPr lang="en-US" sz="1875" dirty="0"/>
          </a:p>
        </p:txBody>
      </p:sp>
      <p:sp>
        <p:nvSpPr>
          <p:cNvPr id="5" name="Text 3"/>
          <p:cNvSpPr/>
          <p:nvPr/>
        </p:nvSpPr>
        <p:spPr>
          <a:xfrm>
            <a:off x="1143000" y="3753683"/>
            <a:ext cx="1465671" cy="6877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3203"/>
              </a:lnSpc>
              <a:buNone/>
            </a:pPr>
            <a:r>
              <a:rPr lang="en-US" sz="3300" b="1" dirty="0">
                <a:solidFill>
                  <a:srgbClr val="201E1D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0.6288</a:t>
            </a:r>
            <a:endParaRPr lang="en-US" sz="3300" dirty="0"/>
          </a:p>
        </p:txBody>
      </p:sp>
      <p:sp>
        <p:nvSpPr>
          <p:cNvPr id="6" name="Text 4"/>
          <p:cNvSpPr/>
          <p:nvPr/>
        </p:nvSpPr>
        <p:spPr>
          <a:xfrm>
            <a:off x="1143000" y="4403288"/>
            <a:ext cx="1465671" cy="3924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6765"/>
              </a:lnSpc>
              <a:buNone/>
            </a:pPr>
            <a:r>
              <a:rPr lang="en-US" sz="1800" dirty="0">
                <a:solidFill>
                  <a:srgbClr val="201E1D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ROC-AUC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2951679" y="3753683"/>
            <a:ext cx="1466064" cy="6877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3203"/>
              </a:lnSpc>
              <a:buNone/>
            </a:pPr>
            <a:r>
              <a:rPr lang="en-US" sz="3300" b="1" dirty="0">
                <a:solidFill>
                  <a:srgbClr val="201E1D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0.4322</a:t>
            </a:r>
            <a:endParaRPr lang="en-US" sz="3300" dirty="0"/>
          </a:p>
        </p:txBody>
      </p:sp>
      <p:sp>
        <p:nvSpPr>
          <p:cNvPr id="8" name="Text 6"/>
          <p:cNvSpPr/>
          <p:nvPr/>
        </p:nvSpPr>
        <p:spPr>
          <a:xfrm>
            <a:off x="2951679" y="4403288"/>
            <a:ext cx="1466064" cy="3924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6765"/>
              </a:lnSpc>
              <a:buNone/>
            </a:pPr>
            <a:r>
              <a:rPr lang="en-US" sz="1800" dirty="0">
                <a:solidFill>
                  <a:srgbClr val="201E1D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PR-AUC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143000" y="4929068"/>
            <a:ext cx="7902131" cy="5695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4135"/>
              </a:lnSpc>
              <a:buNone/>
            </a:pPr>
            <a:r>
              <a:rPr lang="en-US" sz="2700" dirty="0">
                <a:solidFill>
                  <a:srgbClr val="201E1D">
                    <a:alpha val="3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2700" dirty="0"/>
          </a:p>
        </p:txBody>
      </p:sp>
      <p:sp>
        <p:nvSpPr>
          <p:cNvPr id="10" name="Text 8"/>
          <p:cNvSpPr/>
          <p:nvPr/>
        </p:nvSpPr>
        <p:spPr>
          <a:xfrm>
            <a:off x="1143000" y="5632014"/>
            <a:ext cx="7902131" cy="4071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4549"/>
              </a:lnSpc>
              <a:buNone/>
            </a:pPr>
            <a:r>
              <a:rPr lang="en-US" sz="1875" dirty="0">
                <a:solidFill>
                  <a:srgbClr val="201E1D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</a:t>
            </a:r>
            <a:endParaRPr lang="en-US" sz="1875" dirty="0"/>
          </a:p>
        </p:txBody>
      </p:sp>
      <p:sp>
        <p:nvSpPr>
          <p:cNvPr id="11" name="Text 9"/>
          <p:cNvSpPr/>
          <p:nvPr/>
        </p:nvSpPr>
        <p:spPr>
          <a:xfrm>
            <a:off x="1143000" y="6172558"/>
            <a:ext cx="2064460" cy="9534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4972"/>
              </a:lnSpc>
              <a:buNone/>
            </a:pPr>
            <a:r>
              <a:rPr lang="en-US" sz="4650" b="1" dirty="0">
                <a:solidFill>
                  <a:srgbClr val="112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0.6175</a:t>
            </a:r>
            <a:endParaRPr lang="en-US" sz="4650" dirty="0"/>
          </a:p>
        </p:txBody>
      </p:sp>
      <p:sp>
        <p:nvSpPr>
          <p:cNvPr id="12" name="Text 10"/>
          <p:cNvSpPr/>
          <p:nvPr/>
        </p:nvSpPr>
        <p:spPr>
          <a:xfrm>
            <a:off x="1143000" y="7087910"/>
            <a:ext cx="2064460" cy="4071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4549"/>
              </a:lnSpc>
              <a:buNone/>
            </a:pPr>
            <a:r>
              <a:rPr lang="en-US" sz="1875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ROC-AUC</a:t>
            </a:r>
            <a:endParaRPr lang="en-US" sz="1875" dirty="0"/>
          </a:p>
        </p:txBody>
      </p:sp>
      <p:sp>
        <p:nvSpPr>
          <p:cNvPr id="13" name="Text 11"/>
          <p:cNvSpPr/>
          <p:nvPr/>
        </p:nvSpPr>
        <p:spPr>
          <a:xfrm>
            <a:off x="3496032" y="6172558"/>
            <a:ext cx="2064460" cy="9534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4972"/>
              </a:lnSpc>
              <a:buNone/>
            </a:pPr>
            <a:r>
              <a:rPr lang="en-US" sz="4650" b="1" dirty="0">
                <a:solidFill>
                  <a:srgbClr val="112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0.3875</a:t>
            </a:r>
            <a:endParaRPr lang="en-US" sz="4650" dirty="0"/>
          </a:p>
        </p:txBody>
      </p:sp>
      <p:sp>
        <p:nvSpPr>
          <p:cNvPr id="14" name="Text 12"/>
          <p:cNvSpPr/>
          <p:nvPr/>
        </p:nvSpPr>
        <p:spPr>
          <a:xfrm>
            <a:off x="3496032" y="7087910"/>
            <a:ext cx="2064460" cy="4071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4549"/>
              </a:lnSpc>
              <a:buNone/>
            </a:pPr>
            <a:r>
              <a:rPr lang="en-US" sz="1875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PR-AUC</a:t>
            </a:r>
            <a:endParaRPr lang="en-US" sz="1875" dirty="0"/>
          </a:p>
        </p:txBody>
      </p:sp>
      <p:sp>
        <p:nvSpPr>
          <p:cNvPr id="15" name="Shape 13"/>
          <p:cNvSpPr/>
          <p:nvPr/>
        </p:nvSpPr>
        <p:spPr>
          <a:xfrm>
            <a:off x="9279255" y="4652367"/>
            <a:ext cx="15240" cy="1365409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9961245" y="4652367"/>
            <a:ext cx="7399268" cy="8058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36149"/>
              </a:lnSpc>
              <a:buNone/>
            </a:pPr>
            <a:r>
              <a:rPr lang="en-US" sz="1950" b="1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дээр performance бага зэрэг буурсан боловч ranking signal хадгалагдсан.</a:t>
            </a:r>
            <a:endParaRPr lang="en-US" sz="1950" dirty="0"/>
          </a:p>
        </p:txBody>
      </p:sp>
      <p:sp>
        <p:nvSpPr>
          <p:cNvPr id="17" name="Text 15"/>
          <p:cNvSpPr/>
          <p:nvPr/>
        </p:nvSpPr>
        <p:spPr>
          <a:xfrm>
            <a:off x="9961245" y="5648683"/>
            <a:ext cx="7902131" cy="4071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4549"/>
              </a:lnSpc>
              <a:buNone/>
            </a:pPr>
            <a:r>
              <a:rPr lang="en-US" sz="1875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baseline positive rate </a:t>
            </a:r>
            <a:r>
              <a:rPr lang="en-US" sz="1875" b="1" dirty="0">
                <a:solidFill>
                  <a:srgbClr val="3C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28.59%</a:t>
            </a:r>
            <a:endParaRPr lang="en-US" sz="1875" dirty="0"/>
          </a:p>
        </p:txBody>
      </p:sp>
      <p:sp>
        <p:nvSpPr>
          <p:cNvPr id="18" name="Shape 16"/>
          <p:cNvSpPr/>
          <p:nvPr/>
        </p:nvSpPr>
        <p:spPr>
          <a:xfrm>
            <a:off x="1143000" y="9204960"/>
            <a:ext cx="16002000" cy="15240"/>
          </a:xfrm>
          <a:prstGeom prst="rect">
            <a:avLst/>
          </a:prstGeom>
          <a:solidFill>
            <a:srgbClr val="201E1E">
              <a:alpha val="30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1143000" y="9410700"/>
            <a:ext cx="1648206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2353"/>
              </a:lnSpc>
              <a:buNone/>
            </a:pPr>
            <a:r>
              <a:rPr lang="en-US" sz="1800" dirty="0">
                <a:solidFill>
                  <a:srgbClr val="201E1D">
                    <a:alpha val="7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ROC-AUC нь accuracy биш. Risk score-ийг бүрэн calibrated probability гэж үзээгүй.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685800"/>
            <a:ext cx="17602200" cy="5928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97067"/>
              </a:lnSpc>
              <a:buNone/>
            </a:pPr>
            <a:r>
              <a:rPr lang="en-US" sz="3900" b="1" kern="0" spc="-58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 Ranking ба Lift </a:t>
            </a:r>
            <a:r>
              <a:rPr lang="en-US" sz="2400" kern="0" spc="-58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(эрсдэлийн эрэмбэ ба төвлөрөл)</a:t>
            </a:r>
            <a:endParaRPr lang="en-US" sz="3900" dirty="0"/>
          </a:p>
        </p:txBody>
      </p:sp>
      <p:sp>
        <p:nvSpPr>
          <p:cNvPr id="3" name="Shape 1"/>
          <p:cNvSpPr/>
          <p:nvPr/>
        </p:nvSpPr>
        <p:spPr>
          <a:xfrm>
            <a:off x="1143000" y="1450062"/>
            <a:ext cx="16002000" cy="15240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143000" y="6337340"/>
            <a:ext cx="8791933" cy="9525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571500" y="6240185"/>
            <a:ext cx="207288" cy="3924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6765"/>
              </a:lnSpc>
              <a:buNone/>
            </a:pPr>
            <a:r>
              <a:rPr lang="en-US" sz="1800" dirty="0">
                <a:solidFill>
                  <a:srgbClr val="201E1D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1143000" y="5899190"/>
            <a:ext cx="8791933" cy="9525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571500" y="5802035"/>
            <a:ext cx="326350" cy="3924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6765"/>
              </a:lnSpc>
              <a:buNone/>
            </a:pPr>
            <a:r>
              <a:rPr lang="en-US" sz="1800" dirty="0">
                <a:solidFill>
                  <a:srgbClr val="201E1D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1143000" y="5461040"/>
            <a:ext cx="8791933" cy="9525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571500" y="5363885"/>
            <a:ext cx="336828" cy="3924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6765"/>
              </a:lnSpc>
              <a:buNone/>
            </a:pPr>
            <a:r>
              <a:rPr lang="en-US" sz="1800" dirty="0">
                <a:solidFill>
                  <a:srgbClr val="201E1D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1143000" y="5022890"/>
            <a:ext cx="8791933" cy="9525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571500" y="4925735"/>
            <a:ext cx="338257" cy="3924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6765"/>
              </a:lnSpc>
              <a:buNone/>
            </a:pPr>
            <a:r>
              <a:rPr lang="en-US" sz="1800" dirty="0">
                <a:solidFill>
                  <a:srgbClr val="201E1D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1143000" y="4584740"/>
            <a:ext cx="8791933" cy="9525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571500" y="4487585"/>
            <a:ext cx="334089" cy="3924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6765"/>
              </a:lnSpc>
              <a:buNone/>
            </a:pPr>
            <a:r>
              <a:rPr lang="en-US" sz="1800" dirty="0">
                <a:solidFill>
                  <a:srgbClr val="201E1D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1143000" y="4146590"/>
            <a:ext cx="8791933" cy="9525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571500" y="4049435"/>
            <a:ext cx="554950" cy="3924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6765"/>
              </a:lnSpc>
              <a:buNone/>
            </a:pPr>
            <a:r>
              <a:rPr lang="en-US" sz="1800" dirty="0">
                <a:solidFill>
                  <a:srgbClr val="201E1D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50%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1143000" y="5081945"/>
            <a:ext cx="8791933" cy="15240"/>
          </a:xfrm>
          <a:prstGeom prst="rect">
            <a:avLst/>
          </a:prstGeom>
          <a:solidFill>
            <a:srgbClr val="3C6B63"/>
          </a:solidFill>
          <a:ln/>
        </p:spPr>
      </p:sp>
      <p:sp>
        <p:nvSpPr>
          <p:cNvPr id="17" name="Text 15"/>
          <p:cNvSpPr/>
          <p:nvPr/>
        </p:nvSpPr>
        <p:spPr>
          <a:xfrm>
            <a:off x="8156139" y="4695230"/>
            <a:ext cx="1956673" cy="3924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6765"/>
              </a:lnSpc>
              <a:buNone/>
            </a:pPr>
            <a:r>
              <a:rPr lang="en-US" sz="1800" b="1" dirty="0">
                <a:solidFill>
                  <a:srgbClr val="3C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Baseline 28.59%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959054" y="3880366"/>
            <a:ext cx="926306" cy="4071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4549"/>
              </a:lnSpc>
              <a:buNone/>
            </a:pPr>
            <a:r>
              <a:rPr lang="en-US" sz="1875" b="1" dirty="0">
                <a:solidFill>
                  <a:srgbClr val="112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46.01%</a:t>
            </a:r>
            <a:endParaRPr lang="en-US" sz="1875" dirty="0"/>
          </a:p>
        </p:txBody>
      </p:sp>
      <p:sp>
        <p:nvSpPr>
          <p:cNvPr id="19" name="Shape 17"/>
          <p:cNvSpPr/>
          <p:nvPr/>
        </p:nvSpPr>
        <p:spPr>
          <a:xfrm>
            <a:off x="1714500" y="4325660"/>
            <a:ext cx="1339215" cy="20193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20" name="Text 18"/>
          <p:cNvSpPr/>
          <p:nvPr/>
        </p:nvSpPr>
        <p:spPr>
          <a:xfrm>
            <a:off x="3679388" y="4118491"/>
            <a:ext cx="926068" cy="4071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4549"/>
              </a:lnSpc>
              <a:buNone/>
            </a:pPr>
            <a:r>
              <a:rPr lang="en-US" sz="1875" b="1" dirty="0">
                <a:solidFill>
                  <a:srgbClr val="201E1D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40.70%</a:t>
            </a:r>
            <a:endParaRPr lang="en-US" sz="1875" dirty="0"/>
          </a:p>
        </p:txBody>
      </p:sp>
      <p:sp>
        <p:nvSpPr>
          <p:cNvPr id="21" name="Shape 19"/>
          <p:cNvSpPr/>
          <p:nvPr/>
        </p:nvSpPr>
        <p:spPr>
          <a:xfrm>
            <a:off x="3434715" y="4563785"/>
            <a:ext cx="1339334" cy="1781175"/>
          </a:xfrm>
          <a:prstGeom prst="rect">
            <a:avLst/>
          </a:prstGeom>
          <a:solidFill>
            <a:srgbClr val="201E1D">
              <a:alpha val="30000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5413772" y="4242316"/>
            <a:ext cx="897969" cy="4071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4549"/>
              </a:lnSpc>
              <a:buNone/>
            </a:pPr>
            <a:r>
              <a:rPr lang="en-US" sz="1875" b="1" dirty="0">
                <a:solidFill>
                  <a:srgbClr val="201E1D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37.74%</a:t>
            </a:r>
            <a:endParaRPr lang="en-US" sz="1875" dirty="0"/>
          </a:p>
        </p:txBody>
      </p:sp>
      <p:sp>
        <p:nvSpPr>
          <p:cNvPr id="23" name="Shape 21"/>
          <p:cNvSpPr/>
          <p:nvPr/>
        </p:nvSpPr>
        <p:spPr>
          <a:xfrm>
            <a:off x="5155049" y="4687610"/>
            <a:ext cx="1339215" cy="1657350"/>
          </a:xfrm>
          <a:prstGeom prst="rect">
            <a:avLst/>
          </a:prstGeom>
          <a:solidFill>
            <a:srgbClr val="201E1D">
              <a:alpha val="30000"/>
            </a:srgbClr>
          </a:solidFill>
          <a:ln/>
        </p:spPr>
      </p:sp>
      <p:sp>
        <p:nvSpPr>
          <p:cNvPr id="24" name="Text 22"/>
          <p:cNvSpPr/>
          <p:nvPr/>
        </p:nvSpPr>
        <p:spPr>
          <a:xfrm>
            <a:off x="7119818" y="4289941"/>
            <a:ext cx="926306" cy="4071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4549"/>
              </a:lnSpc>
              <a:buNone/>
            </a:pPr>
            <a:r>
              <a:rPr lang="en-US" sz="1875" b="1" dirty="0">
                <a:solidFill>
                  <a:srgbClr val="201E1D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36.76%</a:t>
            </a:r>
            <a:endParaRPr lang="en-US" sz="1875" dirty="0"/>
          </a:p>
        </p:txBody>
      </p:sp>
      <p:sp>
        <p:nvSpPr>
          <p:cNvPr id="25" name="Shape 23"/>
          <p:cNvSpPr/>
          <p:nvPr/>
        </p:nvSpPr>
        <p:spPr>
          <a:xfrm>
            <a:off x="6875264" y="4735235"/>
            <a:ext cx="1339334" cy="1609725"/>
          </a:xfrm>
          <a:prstGeom prst="rect">
            <a:avLst/>
          </a:prstGeom>
          <a:solidFill>
            <a:srgbClr val="201E1D">
              <a:alpha val="30000"/>
            </a:srgbClr>
          </a:solidFill>
          <a:ln/>
        </p:spPr>
      </p:sp>
      <p:sp>
        <p:nvSpPr>
          <p:cNvPr id="26" name="Text 24"/>
          <p:cNvSpPr/>
          <p:nvPr/>
        </p:nvSpPr>
        <p:spPr>
          <a:xfrm>
            <a:off x="8840153" y="4356616"/>
            <a:ext cx="926306" cy="4071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4549"/>
              </a:lnSpc>
              <a:buNone/>
            </a:pPr>
            <a:r>
              <a:rPr lang="en-US" sz="1875" b="1" dirty="0">
                <a:solidFill>
                  <a:srgbClr val="201E1D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35.24%</a:t>
            </a:r>
            <a:endParaRPr lang="en-US" sz="1875" dirty="0"/>
          </a:p>
        </p:txBody>
      </p:sp>
      <p:sp>
        <p:nvSpPr>
          <p:cNvPr id="27" name="Shape 25"/>
          <p:cNvSpPr/>
          <p:nvPr/>
        </p:nvSpPr>
        <p:spPr>
          <a:xfrm>
            <a:off x="8595598" y="4801910"/>
            <a:ext cx="1339334" cy="1543050"/>
          </a:xfrm>
          <a:prstGeom prst="rect">
            <a:avLst/>
          </a:prstGeom>
          <a:solidFill>
            <a:srgbClr val="201E1D">
              <a:alpha val="30000"/>
            </a:srgbClr>
          </a:solidFill>
          <a:ln/>
        </p:spPr>
      </p:sp>
      <p:sp>
        <p:nvSpPr>
          <p:cNvPr id="28" name="Text 26"/>
          <p:cNvSpPr/>
          <p:nvPr/>
        </p:nvSpPr>
        <p:spPr>
          <a:xfrm>
            <a:off x="1647539" y="6459260"/>
            <a:ext cx="1473137" cy="3924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lnSpc>
                <a:spcPct val="136765"/>
              </a:lnSpc>
              <a:buNone/>
            </a:pPr>
            <a:r>
              <a:rPr lang="en-US" sz="1800" b="1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10%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3367748" y="6459260"/>
            <a:ext cx="1473268" cy="3924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lnSpc>
                <a:spcPct val="136765"/>
              </a:lnSpc>
              <a:buNone/>
            </a:pPr>
            <a:r>
              <a:rPr lang="en-US" sz="1800" dirty="0">
                <a:solidFill>
                  <a:srgbClr val="201E1D">
                    <a:alpha val="6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20%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5088089" y="6459260"/>
            <a:ext cx="1473137" cy="3924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lnSpc>
                <a:spcPct val="136765"/>
              </a:lnSpc>
              <a:buNone/>
            </a:pPr>
            <a:r>
              <a:rPr lang="en-US" sz="1800" dirty="0">
                <a:solidFill>
                  <a:srgbClr val="201E1D">
                    <a:alpha val="6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30%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6808297" y="6459260"/>
            <a:ext cx="1473268" cy="3924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lnSpc>
                <a:spcPct val="136765"/>
              </a:lnSpc>
              <a:buNone/>
            </a:pPr>
            <a:r>
              <a:rPr lang="en-US" sz="1800" dirty="0">
                <a:solidFill>
                  <a:srgbClr val="201E1D">
                    <a:alpha val="6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40%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8528631" y="6459260"/>
            <a:ext cx="1473268" cy="3924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lnSpc>
                <a:spcPct val="136765"/>
              </a:lnSpc>
              <a:buNone/>
            </a:pPr>
            <a:r>
              <a:rPr lang="en-US" sz="1800" dirty="0">
                <a:solidFill>
                  <a:srgbClr val="201E1D">
                    <a:alpha val="6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50%</a:t>
            </a:r>
            <a:endParaRPr lang="en-US" sz="1800" dirty="0"/>
          </a:p>
        </p:txBody>
      </p:sp>
      <p:sp>
        <p:nvSpPr>
          <p:cNvPr id="33" name="Shape 31"/>
          <p:cNvSpPr/>
          <p:nvPr/>
        </p:nvSpPr>
        <p:spPr>
          <a:xfrm>
            <a:off x="10696932" y="1808202"/>
            <a:ext cx="15240" cy="7351514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34" name="Text 32"/>
          <p:cNvSpPr/>
          <p:nvPr/>
        </p:nvSpPr>
        <p:spPr>
          <a:xfrm>
            <a:off x="11283673" y="4054912"/>
            <a:ext cx="6447460" cy="4071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4549"/>
              </a:lnSpc>
              <a:buNone/>
            </a:pPr>
            <a:r>
              <a:rPr lang="en-US" sz="1875" kern="0" spc="113" dirty="0">
                <a:solidFill>
                  <a:srgbClr val="201E1D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10%</a:t>
            </a:r>
            <a:endParaRPr lang="en-US" sz="1875" dirty="0"/>
          </a:p>
        </p:txBody>
      </p:sp>
      <p:sp>
        <p:nvSpPr>
          <p:cNvPr id="35" name="Text 33"/>
          <p:cNvSpPr/>
          <p:nvPr/>
        </p:nvSpPr>
        <p:spPr>
          <a:xfrm>
            <a:off x="11283673" y="4595455"/>
            <a:ext cx="6447460" cy="9791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82333"/>
              </a:lnSpc>
              <a:buNone/>
            </a:pPr>
            <a:r>
              <a:rPr lang="en-US" sz="7800" b="1" dirty="0">
                <a:solidFill>
                  <a:srgbClr val="112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46.01%</a:t>
            </a:r>
            <a:endParaRPr lang="en-US" sz="7800" dirty="0"/>
          </a:p>
        </p:txBody>
      </p:sp>
      <p:sp>
        <p:nvSpPr>
          <p:cNvPr id="36" name="Text 34"/>
          <p:cNvSpPr/>
          <p:nvPr/>
        </p:nvSpPr>
        <p:spPr>
          <a:xfrm>
            <a:off x="11283673" y="5707975"/>
            <a:ext cx="6447460" cy="6877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3203"/>
              </a:lnSpc>
              <a:buNone/>
            </a:pPr>
            <a:r>
              <a:rPr lang="en-US" sz="3300" b="1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1.61× Lift</a:t>
            </a:r>
            <a:endParaRPr lang="en-US" sz="3300" dirty="0"/>
          </a:p>
        </p:txBody>
      </p:sp>
      <p:sp>
        <p:nvSpPr>
          <p:cNvPr id="37" name="Text 35"/>
          <p:cNvSpPr/>
          <p:nvPr/>
        </p:nvSpPr>
        <p:spPr>
          <a:xfrm>
            <a:off x="11283673" y="6529031"/>
            <a:ext cx="6447460" cy="42195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6149"/>
              </a:lnSpc>
              <a:buNone/>
            </a:pPr>
            <a:r>
              <a:rPr lang="en-US" sz="1950" dirty="0">
                <a:solidFill>
                  <a:srgbClr val="201E1D">
                    <a:alpha val="7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Positive Capture </a:t>
            </a:r>
            <a:r>
              <a:rPr lang="en-US" sz="1950" b="1" dirty="0">
                <a:solidFill>
                  <a:srgbClr val="3C6B63">
                    <a:alpha val="7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16.08%</a:t>
            </a:r>
            <a:endParaRPr lang="en-US" sz="1950" dirty="0"/>
          </a:p>
        </p:txBody>
      </p:sp>
      <p:sp>
        <p:nvSpPr>
          <p:cNvPr id="38" name="Shape 36"/>
          <p:cNvSpPr/>
          <p:nvPr/>
        </p:nvSpPr>
        <p:spPr>
          <a:xfrm>
            <a:off x="1143000" y="9159716"/>
            <a:ext cx="16002000" cy="15240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39" name="Text 37"/>
          <p:cNvSpPr/>
          <p:nvPr/>
        </p:nvSpPr>
        <p:spPr>
          <a:xfrm>
            <a:off x="1143000" y="9384506"/>
            <a:ext cx="16482060" cy="4071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4549"/>
              </a:lnSpc>
              <a:buNone/>
            </a:pPr>
            <a:r>
              <a:rPr lang="en-US" sz="1875" b="1" dirty="0">
                <a:solidFill>
                  <a:srgbClr val="112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10% segment-ийн actual positive rate нь baseline-аас 1.61 дахин өндөр.</a:t>
            </a:r>
            <a:endParaRPr lang="en-US" sz="1875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685800"/>
            <a:ext cx="17602200" cy="5928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97067"/>
              </a:lnSpc>
              <a:buNone/>
            </a:pPr>
            <a:r>
              <a:rPr lang="en-US" sz="3900" b="1" kern="0" spc="-58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 Importance </a:t>
            </a:r>
            <a:r>
              <a:rPr lang="en-US" sz="2400" kern="0" spc="-58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(загварт оруулж буй хувь нэмэр)</a:t>
            </a:r>
            <a:endParaRPr lang="en-US" sz="3900" dirty="0"/>
          </a:p>
        </p:txBody>
      </p:sp>
      <p:sp>
        <p:nvSpPr>
          <p:cNvPr id="3" name="Shape 1"/>
          <p:cNvSpPr/>
          <p:nvPr/>
        </p:nvSpPr>
        <p:spPr>
          <a:xfrm>
            <a:off x="1143000" y="1450062"/>
            <a:ext cx="16002000" cy="15240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1143000" y="2906435"/>
            <a:ext cx="266700" cy="4071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4549"/>
              </a:lnSpc>
              <a:buNone/>
            </a:pPr>
            <a:r>
              <a:rPr lang="en-US" sz="1875" dirty="0">
                <a:solidFill>
                  <a:srgbClr val="112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</a:t>
            </a:r>
            <a:endParaRPr lang="en-US" sz="1875" dirty="0"/>
          </a:p>
        </p:txBody>
      </p:sp>
      <p:sp>
        <p:nvSpPr>
          <p:cNvPr id="5" name="Text 3"/>
          <p:cNvSpPr/>
          <p:nvPr/>
        </p:nvSpPr>
        <p:spPr>
          <a:xfrm>
            <a:off x="1485900" y="2906435"/>
            <a:ext cx="3143250" cy="4071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4549"/>
              </a:lnSpc>
              <a:buNone/>
            </a:pPr>
            <a:r>
              <a:rPr lang="en-US" sz="1875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sessions_l7d</a:t>
            </a:r>
            <a:endParaRPr lang="en-US" sz="1875" dirty="0"/>
          </a:p>
        </p:txBody>
      </p:sp>
      <p:sp>
        <p:nvSpPr>
          <p:cNvPr id="6" name="Shape 4"/>
          <p:cNvSpPr/>
          <p:nvPr/>
        </p:nvSpPr>
        <p:spPr>
          <a:xfrm>
            <a:off x="4495800" y="2995732"/>
            <a:ext cx="11639550" cy="1905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7" name="Text 5"/>
          <p:cNvSpPr/>
          <p:nvPr/>
        </p:nvSpPr>
        <p:spPr>
          <a:xfrm>
            <a:off x="16211550" y="2906435"/>
            <a:ext cx="933450" cy="4071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lnSpc>
                <a:spcPct val="134549"/>
              </a:lnSpc>
              <a:buNone/>
            </a:pPr>
            <a:r>
              <a:rPr lang="en-US" sz="1875" b="1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14.89%</a:t>
            </a:r>
            <a:endParaRPr lang="en-US" sz="1875" dirty="0"/>
          </a:p>
        </p:txBody>
      </p:sp>
      <p:sp>
        <p:nvSpPr>
          <p:cNvPr id="8" name="Text 6"/>
          <p:cNvSpPr/>
          <p:nvPr/>
        </p:nvSpPr>
        <p:spPr>
          <a:xfrm>
            <a:off x="1143000" y="3427929"/>
            <a:ext cx="266700" cy="4071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4549"/>
              </a:lnSpc>
              <a:buNone/>
            </a:pPr>
            <a:r>
              <a:rPr lang="en-US" sz="1875" dirty="0">
                <a:solidFill>
                  <a:srgbClr val="112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</a:t>
            </a:r>
            <a:endParaRPr lang="en-US" sz="1875" dirty="0"/>
          </a:p>
        </p:txBody>
      </p:sp>
      <p:sp>
        <p:nvSpPr>
          <p:cNvPr id="9" name="Text 7"/>
          <p:cNvSpPr/>
          <p:nvPr/>
        </p:nvSpPr>
        <p:spPr>
          <a:xfrm>
            <a:off x="1485900" y="3427929"/>
            <a:ext cx="3143250" cy="4071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4549"/>
              </a:lnSpc>
              <a:buNone/>
            </a:pPr>
            <a:r>
              <a:rPr lang="en-US" sz="1875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sessions_l30d</a:t>
            </a:r>
            <a:endParaRPr lang="en-US" sz="1875" dirty="0"/>
          </a:p>
        </p:txBody>
      </p:sp>
      <p:sp>
        <p:nvSpPr>
          <p:cNvPr id="10" name="Shape 8"/>
          <p:cNvSpPr/>
          <p:nvPr/>
        </p:nvSpPr>
        <p:spPr>
          <a:xfrm>
            <a:off x="4495800" y="3517225"/>
            <a:ext cx="11639550" cy="1905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11" name="Text 9"/>
          <p:cNvSpPr/>
          <p:nvPr/>
        </p:nvSpPr>
        <p:spPr>
          <a:xfrm>
            <a:off x="16211550" y="3427929"/>
            <a:ext cx="933450" cy="4071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lnSpc>
                <a:spcPct val="134549"/>
              </a:lnSpc>
              <a:buNone/>
            </a:pPr>
            <a:r>
              <a:rPr lang="en-US" sz="1875" b="1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8.18%</a:t>
            </a:r>
            <a:endParaRPr lang="en-US" sz="1875" dirty="0"/>
          </a:p>
        </p:txBody>
      </p:sp>
      <p:sp>
        <p:nvSpPr>
          <p:cNvPr id="12" name="Text 10"/>
          <p:cNvSpPr/>
          <p:nvPr/>
        </p:nvSpPr>
        <p:spPr>
          <a:xfrm>
            <a:off x="1143000" y="3949422"/>
            <a:ext cx="266700" cy="4071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4549"/>
              </a:lnSpc>
              <a:buNone/>
            </a:pPr>
            <a:r>
              <a:rPr lang="en-US" sz="1875" dirty="0">
                <a:solidFill>
                  <a:srgbClr val="112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</a:t>
            </a:r>
            <a:endParaRPr lang="en-US" sz="1875" dirty="0"/>
          </a:p>
        </p:txBody>
      </p:sp>
      <p:sp>
        <p:nvSpPr>
          <p:cNvPr id="13" name="Text 11"/>
          <p:cNvSpPr/>
          <p:nvPr/>
        </p:nvSpPr>
        <p:spPr>
          <a:xfrm>
            <a:off x="1485900" y="3949422"/>
            <a:ext cx="3143250" cy="4071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4549"/>
              </a:lnSpc>
              <a:buNone/>
            </a:pPr>
            <a:r>
              <a:rPr lang="en-US" sz="1875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number_change_cnt_l90d</a:t>
            </a:r>
            <a:endParaRPr lang="en-US" sz="1875" dirty="0"/>
          </a:p>
        </p:txBody>
      </p:sp>
      <p:sp>
        <p:nvSpPr>
          <p:cNvPr id="14" name="Shape 12"/>
          <p:cNvSpPr/>
          <p:nvPr/>
        </p:nvSpPr>
        <p:spPr>
          <a:xfrm>
            <a:off x="4495800" y="4038719"/>
            <a:ext cx="11639550" cy="1905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15" name="Text 13"/>
          <p:cNvSpPr/>
          <p:nvPr/>
        </p:nvSpPr>
        <p:spPr>
          <a:xfrm>
            <a:off x="16211550" y="3949422"/>
            <a:ext cx="933450" cy="4071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lnSpc>
                <a:spcPct val="134549"/>
              </a:lnSpc>
              <a:buNone/>
            </a:pPr>
            <a:r>
              <a:rPr lang="en-US" sz="1875" b="1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5.68%</a:t>
            </a:r>
            <a:endParaRPr lang="en-US" sz="1875" dirty="0"/>
          </a:p>
        </p:txBody>
      </p:sp>
      <p:sp>
        <p:nvSpPr>
          <p:cNvPr id="16" name="Text 14"/>
          <p:cNvSpPr/>
          <p:nvPr/>
        </p:nvSpPr>
        <p:spPr>
          <a:xfrm>
            <a:off x="1143000" y="4470916"/>
            <a:ext cx="266700" cy="4071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4549"/>
              </a:lnSpc>
              <a:buNone/>
            </a:pPr>
            <a:r>
              <a:rPr lang="en-US" sz="1875" dirty="0">
                <a:solidFill>
                  <a:srgbClr val="201E1D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</a:t>
            </a:r>
            <a:endParaRPr lang="en-US" sz="1875" dirty="0"/>
          </a:p>
        </p:txBody>
      </p:sp>
      <p:sp>
        <p:nvSpPr>
          <p:cNvPr id="17" name="Text 15"/>
          <p:cNvSpPr/>
          <p:nvPr/>
        </p:nvSpPr>
        <p:spPr>
          <a:xfrm>
            <a:off x="1485900" y="4470916"/>
            <a:ext cx="3143250" cy="4071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4549"/>
              </a:lnSpc>
              <a:buNone/>
            </a:pPr>
            <a:r>
              <a:rPr lang="en-US" sz="1875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invoiced_unpaid_amt</a:t>
            </a:r>
            <a:endParaRPr lang="en-US" sz="1875" dirty="0"/>
          </a:p>
        </p:txBody>
      </p:sp>
      <p:sp>
        <p:nvSpPr>
          <p:cNvPr id="18" name="Shape 16"/>
          <p:cNvSpPr/>
          <p:nvPr/>
        </p:nvSpPr>
        <p:spPr>
          <a:xfrm>
            <a:off x="4495800" y="4560213"/>
            <a:ext cx="11639550" cy="190500"/>
          </a:xfrm>
          <a:prstGeom prst="rect">
            <a:avLst/>
          </a:prstGeom>
          <a:solidFill>
            <a:srgbClr val="201E1D">
              <a:alpha val="28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16211550" y="4470916"/>
            <a:ext cx="933450" cy="4071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lnSpc>
                <a:spcPct val="134549"/>
              </a:lnSpc>
              <a:buNone/>
            </a:pPr>
            <a:r>
              <a:rPr lang="en-US" sz="1875" b="1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4.52%</a:t>
            </a:r>
            <a:endParaRPr lang="en-US" sz="1875" dirty="0"/>
          </a:p>
        </p:txBody>
      </p:sp>
      <p:sp>
        <p:nvSpPr>
          <p:cNvPr id="20" name="Text 18"/>
          <p:cNvSpPr/>
          <p:nvPr/>
        </p:nvSpPr>
        <p:spPr>
          <a:xfrm>
            <a:off x="1143000" y="4992410"/>
            <a:ext cx="266700" cy="4071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4549"/>
              </a:lnSpc>
              <a:buNone/>
            </a:pPr>
            <a:r>
              <a:rPr lang="en-US" sz="1875" dirty="0">
                <a:solidFill>
                  <a:srgbClr val="112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</a:t>
            </a:r>
            <a:endParaRPr lang="en-US" sz="1875" dirty="0"/>
          </a:p>
        </p:txBody>
      </p:sp>
      <p:sp>
        <p:nvSpPr>
          <p:cNvPr id="21" name="Text 19"/>
          <p:cNvSpPr/>
          <p:nvPr/>
        </p:nvSpPr>
        <p:spPr>
          <a:xfrm>
            <a:off x="1485900" y="4992410"/>
            <a:ext cx="3143250" cy="4071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4549"/>
              </a:lnSpc>
              <a:buNone/>
            </a:pPr>
            <a:r>
              <a:rPr lang="en-US" sz="1875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trx_recency_l90d</a:t>
            </a:r>
            <a:endParaRPr lang="en-US" sz="1875" dirty="0"/>
          </a:p>
        </p:txBody>
      </p:sp>
      <p:sp>
        <p:nvSpPr>
          <p:cNvPr id="22" name="Shape 20"/>
          <p:cNvSpPr/>
          <p:nvPr/>
        </p:nvSpPr>
        <p:spPr>
          <a:xfrm>
            <a:off x="4495800" y="5081707"/>
            <a:ext cx="11639550" cy="1905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23" name="Text 21"/>
          <p:cNvSpPr/>
          <p:nvPr/>
        </p:nvSpPr>
        <p:spPr>
          <a:xfrm>
            <a:off x="16211550" y="4992410"/>
            <a:ext cx="933450" cy="4071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lnSpc>
                <a:spcPct val="134549"/>
              </a:lnSpc>
              <a:buNone/>
            </a:pPr>
            <a:r>
              <a:rPr lang="en-US" sz="1875" b="1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3.67%</a:t>
            </a:r>
            <a:endParaRPr lang="en-US" sz="1875" dirty="0"/>
          </a:p>
        </p:txBody>
      </p:sp>
      <p:sp>
        <p:nvSpPr>
          <p:cNvPr id="24" name="Text 22"/>
          <p:cNvSpPr/>
          <p:nvPr/>
        </p:nvSpPr>
        <p:spPr>
          <a:xfrm>
            <a:off x="1143000" y="5698450"/>
            <a:ext cx="266700" cy="4071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4549"/>
              </a:lnSpc>
              <a:buNone/>
            </a:pPr>
            <a:r>
              <a:rPr lang="en-US" sz="1875" dirty="0">
                <a:solidFill>
                  <a:srgbClr val="112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</a:t>
            </a:r>
            <a:endParaRPr lang="en-US" sz="1875" dirty="0"/>
          </a:p>
        </p:txBody>
      </p:sp>
      <p:sp>
        <p:nvSpPr>
          <p:cNvPr id="25" name="Text 23"/>
          <p:cNvSpPr/>
          <p:nvPr/>
        </p:nvSpPr>
        <p:spPr>
          <a:xfrm>
            <a:off x="1485900" y="5513904"/>
            <a:ext cx="2943225" cy="7762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34549"/>
              </a:lnSpc>
              <a:buNone/>
            </a:pPr>
            <a:r>
              <a:rPr lang="en-US" sz="1875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app_recency_days (missing flag)</a:t>
            </a:r>
            <a:endParaRPr lang="en-US" sz="1875" dirty="0"/>
          </a:p>
        </p:txBody>
      </p:sp>
      <p:sp>
        <p:nvSpPr>
          <p:cNvPr id="26" name="Shape 24"/>
          <p:cNvSpPr/>
          <p:nvPr/>
        </p:nvSpPr>
        <p:spPr>
          <a:xfrm>
            <a:off x="4495800" y="5787747"/>
            <a:ext cx="11639550" cy="1905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27" name="Text 25"/>
          <p:cNvSpPr/>
          <p:nvPr/>
        </p:nvSpPr>
        <p:spPr>
          <a:xfrm>
            <a:off x="16211550" y="5698450"/>
            <a:ext cx="933450" cy="4071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lnSpc>
                <a:spcPct val="134549"/>
              </a:lnSpc>
              <a:buNone/>
            </a:pPr>
            <a:r>
              <a:rPr lang="en-US" sz="1875" b="1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3.34%</a:t>
            </a:r>
            <a:endParaRPr lang="en-US" sz="1875" dirty="0"/>
          </a:p>
        </p:txBody>
      </p:sp>
      <p:sp>
        <p:nvSpPr>
          <p:cNvPr id="28" name="Text 26"/>
          <p:cNvSpPr/>
          <p:nvPr/>
        </p:nvSpPr>
        <p:spPr>
          <a:xfrm>
            <a:off x="1143000" y="6404491"/>
            <a:ext cx="266700" cy="4071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4549"/>
              </a:lnSpc>
              <a:buNone/>
            </a:pPr>
            <a:r>
              <a:rPr lang="en-US" sz="1875" dirty="0">
                <a:solidFill>
                  <a:srgbClr val="201E1D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</a:t>
            </a:r>
            <a:endParaRPr lang="en-US" sz="1875" dirty="0"/>
          </a:p>
        </p:txBody>
      </p:sp>
      <p:sp>
        <p:nvSpPr>
          <p:cNvPr id="29" name="Text 27"/>
          <p:cNvSpPr/>
          <p:nvPr/>
        </p:nvSpPr>
        <p:spPr>
          <a:xfrm>
            <a:off x="1485900" y="6404491"/>
            <a:ext cx="3143250" cy="4071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4549"/>
              </a:lnSpc>
              <a:buNone/>
            </a:pPr>
            <a:r>
              <a:rPr lang="en-US" sz="1875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balance_ondue_to_limit</a:t>
            </a:r>
            <a:endParaRPr lang="en-US" sz="1875" dirty="0"/>
          </a:p>
        </p:txBody>
      </p:sp>
      <p:sp>
        <p:nvSpPr>
          <p:cNvPr id="30" name="Shape 28"/>
          <p:cNvSpPr/>
          <p:nvPr/>
        </p:nvSpPr>
        <p:spPr>
          <a:xfrm>
            <a:off x="4495800" y="6493788"/>
            <a:ext cx="11639550" cy="190500"/>
          </a:xfrm>
          <a:prstGeom prst="rect">
            <a:avLst/>
          </a:prstGeom>
          <a:solidFill>
            <a:srgbClr val="201E1D">
              <a:alpha val="28000"/>
            </a:srgbClr>
          </a:solidFill>
          <a:ln/>
        </p:spPr>
      </p:sp>
      <p:sp>
        <p:nvSpPr>
          <p:cNvPr id="31" name="Text 29"/>
          <p:cNvSpPr/>
          <p:nvPr/>
        </p:nvSpPr>
        <p:spPr>
          <a:xfrm>
            <a:off x="16211550" y="6404491"/>
            <a:ext cx="933450" cy="4071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lnSpc>
                <a:spcPct val="134549"/>
              </a:lnSpc>
              <a:buNone/>
            </a:pPr>
            <a:r>
              <a:rPr lang="en-US" sz="1875" b="1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3.32%</a:t>
            </a:r>
            <a:endParaRPr lang="en-US" sz="1875" dirty="0"/>
          </a:p>
        </p:txBody>
      </p:sp>
      <p:sp>
        <p:nvSpPr>
          <p:cNvPr id="32" name="Text 30"/>
          <p:cNvSpPr/>
          <p:nvPr/>
        </p:nvSpPr>
        <p:spPr>
          <a:xfrm>
            <a:off x="1143000" y="6925985"/>
            <a:ext cx="266700" cy="4071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4549"/>
              </a:lnSpc>
              <a:buNone/>
            </a:pPr>
            <a:r>
              <a:rPr lang="en-US" sz="1875" dirty="0">
                <a:solidFill>
                  <a:srgbClr val="201E1D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</a:t>
            </a:r>
            <a:endParaRPr lang="en-US" sz="1875" dirty="0"/>
          </a:p>
        </p:txBody>
      </p:sp>
      <p:sp>
        <p:nvSpPr>
          <p:cNvPr id="33" name="Text 31"/>
          <p:cNvSpPr/>
          <p:nvPr/>
        </p:nvSpPr>
        <p:spPr>
          <a:xfrm>
            <a:off x="1485900" y="6925985"/>
            <a:ext cx="3143250" cy="4071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4549"/>
              </a:lnSpc>
              <a:buNone/>
            </a:pPr>
            <a:r>
              <a:rPr lang="en-US" sz="1875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balance_dpd31</a:t>
            </a:r>
            <a:endParaRPr lang="en-US" sz="1875" dirty="0"/>
          </a:p>
        </p:txBody>
      </p:sp>
      <p:sp>
        <p:nvSpPr>
          <p:cNvPr id="34" name="Shape 32"/>
          <p:cNvSpPr/>
          <p:nvPr/>
        </p:nvSpPr>
        <p:spPr>
          <a:xfrm>
            <a:off x="4495800" y="7015282"/>
            <a:ext cx="11639550" cy="190500"/>
          </a:xfrm>
          <a:prstGeom prst="rect">
            <a:avLst/>
          </a:prstGeom>
          <a:solidFill>
            <a:srgbClr val="201E1D">
              <a:alpha val="28000"/>
            </a:srgbClr>
          </a:solidFill>
          <a:ln/>
        </p:spPr>
      </p:sp>
      <p:sp>
        <p:nvSpPr>
          <p:cNvPr id="35" name="Text 33"/>
          <p:cNvSpPr/>
          <p:nvPr/>
        </p:nvSpPr>
        <p:spPr>
          <a:xfrm>
            <a:off x="16211550" y="6925985"/>
            <a:ext cx="933450" cy="4071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lnSpc>
                <a:spcPct val="134549"/>
              </a:lnSpc>
              <a:buNone/>
            </a:pPr>
            <a:r>
              <a:rPr lang="en-US" sz="1875" b="1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3.27%</a:t>
            </a:r>
            <a:endParaRPr lang="en-US" sz="1875" dirty="0"/>
          </a:p>
        </p:txBody>
      </p:sp>
      <p:sp>
        <p:nvSpPr>
          <p:cNvPr id="36" name="Text 34"/>
          <p:cNvSpPr/>
          <p:nvPr/>
        </p:nvSpPr>
        <p:spPr>
          <a:xfrm>
            <a:off x="1333500" y="7523679"/>
            <a:ext cx="1397699" cy="3924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6765"/>
              </a:lnSpc>
              <a:buNone/>
            </a:pPr>
            <a:r>
              <a:rPr lang="en-US" sz="1800" dirty="0">
                <a:solidFill>
                  <a:srgbClr val="201E1D">
                    <a:alpha val="6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Behavioral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2889885" y="7523679"/>
            <a:ext cx="1240393" cy="3924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6765"/>
              </a:lnSpc>
              <a:buNone/>
            </a:pPr>
            <a:r>
              <a:rPr lang="en-US" sz="1800" dirty="0">
                <a:solidFill>
                  <a:srgbClr val="201E1D">
                    <a:alpha val="6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Financial</a:t>
            </a:r>
            <a:endParaRPr lang="en-US" sz="1800" dirty="0"/>
          </a:p>
        </p:txBody>
      </p:sp>
      <p:sp>
        <p:nvSpPr>
          <p:cNvPr id="38" name="Shape 36"/>
          <p:cNvSpPr/>
          <p:nvPr/>
        </p:nvSpPr>
        <p:spPr>
          <a:xfrm>
            <a:off x="1143000" y="9204960"/>
            <a:ext cx="16002000" cy="15240"/>
          </a:xfrm>
          <a:prstGeom prst="rect">
            <a:avLst/>
          </a:prstGeom>
          <a:solidFill>
            <a:srgbClr val="201E1E">
              <a:alpha val="30000"/>
            </a:srgbClr>
          </a:solidFill>
          <a:ln/>
        </p:spPr>
      </p:sp>
      <p:sp>
        <p:nvSpPr>
          <p:cNvPr id="39" name="Text 37"/>
          <p:cNvSpPr/>
          <p:nvPr/>
        </p:nvSpPr>
        <p:spPr>
          <a:xfrm>
            <a:off x="1143000" y="9410700"/>
            <a:ext cx="1648206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2353"/>
              </a:lnSpc>
              <a:buNone/>
            </a:pPr>
            <a:r>
              <a:rPr lang="en-US" sz="1800" dirty="0">
                <a:solidFill>
                  <a:srgbClr val="201E1D">
                    <a:alpha val="7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 importance нь model-ийн prediction-д оруулсан хувь нэмрийг илэрхийлэх бөгөөд causal relationship биш.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685800"/>
            <a:ext cx="9153406" cy="5928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97067"/>
              </a:lnSpc>
              <a:buNone/>
            </a:pPr>
            <a:r>
              <a:rPr lang="en-US" sz="3900" b="1" kern="0" spc="-58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 Prediction ба Risk Segmentation</a:t>
            </a:r>
            <a:endParaRPr lang="en-US" sz="3900" dirty="0"/>
          </a:p>
        </p:txBody>
      </p:sp>
      <p:sp>
        <p:nvSpPr>
          <p:cNvPr id="3" name="Text 1"/>
          <p:cNvSpPr/>
          <p:nvPr/>
        </p:nvSpPr>
        <p:spPr>
          <a:xfrm>
            <a:off x="15897463" y="861060"/>
            <a:ext cx="1372291" cy="4071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4549"/>
              </a:lnSpc>
              <a:buNone/>
            </a:pPr>
            <a:r>
              <a:rPr lang="en-US" sz="1875" dirty="0">
                <a:solidFill>
                  <a:srgbClr val="201E1D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8,463 credit</a:t>
            </a:r>
            <a:endParaRPr lang="en-US" sz="1875" dirty="0"/>
          </a:p>
        </p:txBody>
      </p:sp>
      <p:sp>
        <p:nvSpPr>
          <p:cNvPr id="4" name="Shape 2"/>
          <p:cNvSpPr/>
          <p:nvPr/>
        </p:nvSpPr>
        <p:spPr>
          <a:xfrm>
            <a:off x="1143000" y="1240512"/>
            <a:ext cx="16002000" cy="15240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1068389" y="4339233"/>
            <a:ext cx="1641431" cy="4071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lnSpc>
                <a:spcPct val="134549"/>
              </a:lnSpc>
              <a:buNone/>
            </a:pPr>
            <a:r>
              <a:rPr lang="en-US" sz="1875" b="1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 Risk</a:t>
            </a:r>
            <a:endParaRPr lang="en-US" sz="1875" dirty="0"/>
          </a:p>
        </p:txBody>
      </p:sp>
      <p:sp>
        <p:nvSpPr>
          <p:cNvPr id="6" name="Shape 4"/>
          <p:cNvSpPr/>
          <p:nvPr/>
        </p:nvSpPr>
        <p:spPr>
          <a:xfrm>
            <a:off x="1143000" y="4803577"/>
            <a:ext cx="1492210" cy="2286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7" name="Text 5"/>
          <p:cNvSpPr/>
          <p:nvPr/>
        </p:nvSpPr>
        <p:spPr>
          <a:xfrm>
            <a:off x="1104900" y="5127427"/>
            <a:ext cx="1568410" cy="746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lnSpc>
                <a:spcPct val="136765"/>
              </a:lnSpc>
              <a:buNone/>
            </a:pPr>
            <a:r>
              <a:rPr lang="en-US" sz="1800" dirty="0">
                <a:solidFill>
                  <a:srgbClr val="201E1D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846 · Avg 0.4502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2711410" y="4903113"/>
            <a:ext cx="281702" cy="4071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4549"/>
              </a:lnSpc>
              <a:buNone/>
            </a:pPr>
            <a:r>
              <a:rPr lang="en-US" sz="1875" dirty="0">
                <a:solidFill>
                  <a:srgbClr val="201E1D">
                    <a:alpha val="4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75" dirty="0"/>
          </a:p>
        </p:txBody>
      </p:sp>
      <p:sp>
        <p:nvSpPr>
          <p:cNvPr id="9" name="Text 7"/>
          <p:cNvSpPr/>
          <p:nvPr/>
        </p:nvSpPr>
        <p:spPr>
          <a:xfrm>
            <a:off x="2918496" y="4339233"/>
            <a:ext cx="1641562" cy="4071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lnSpc>
                <a:spcPct val="134549"/>
              </a:lnSpc>
              <a:buNone/>
            </a:pPr>
            <a:r>
              <a:rPr lang="en-US" sz="1875" b="1" dirty="0">
                <a:solidFill>
                  <a:srgbClr val="201E1D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High-Medium</a:t>
            </a:r>
            <a:endParaRPr lang="en-US" sz="1875" dirty="0"/>
          </a:p>
        </p:txBody>
      </p:sp>
      <p:sp>
        <p:nvSpPr>
          <p:cNvPr id="10" name="Shape 8"/>
          <p:cNvSpPr/>
          <p:nvPr/>
        </p:nvSpPr>
        <p:spPr>
          <a:xfrm>
            <a:off x="2993112" y="4803577"/>
            <a:ext cx="1492329" cy="228600"/>
          </a:xfrm>
          <a:prstGeom prst="rect">
            <a:avLst/>
          </a:prstGeom>
          <a:solidFill>
            <a:srgbClr val="1E3A5F">
              <a:alpha val="65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2955012" y="5127427"/>
            <a:ext cx="1568529" cy="746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lnSpc>
                <a:spcPct val="136765"/>
              </a:lnSpc>
              <a:buNone/>
            </a:pPr>
            <a:r>
              <a:rPr lang="en-US" sz="1800" dirty="0">
                <a:solidFill>
                  <a:srgbClr val="201E1D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846 · Avg 0.4193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561642" y="4903113"/>
            <a:ext cx="281702" cy="4071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4549"/>
              </a:lnSpc>
              <a:buNone/>
            </a:pPr>
            <a:r>
              <a:rPr lang="en-US" sz="1875" dirty="0">
                <a:solidFill>
                  <a:srgbClr val="201E1D">
                    <a:alpha val="4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75" dirty="0"/>
          </a:p>
        </p:txBody>
      </p:sp>
      <p:sp>
        <p:nvSpPr>
          <p:cNvPr id="13" name="Text 11"/>
          <p:cNvSpPr/>
          <p:nvPr/>
        </p:nvSpPr>
        <p:spPr>
          <a:xfrm>
            <a:off x="4768727" y="4339233"/>
            <a:ext cx="1641562" cy="4071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lnSpc>
                <a:spcPct val="134549"/>
              </a:lnSpc>
              <a:buNone/>
            </a:pPr>
            <a:r>
              <a:rPr lang="en-US" sz="1875" b="1" dirty="0">
                <a:solidFill>
                  <a:srgbClr val="201E1D">
                    <a:alpha val="6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Medium</a:t>
            </a:r>
            <a:endParaRPr lang="en-US" sz="1875" dirty="0"/>
          </a:p>
        </p:txBody>
      </p:sp>
      <p:sp>
        <p:nvSpPr>
          <p:cNvPr id="14" name="Shape 12"/>
          <p:cNvSpPr/>
          <p:nvPr/>
        </p:nvSpPr>
        <p:spPr>
          <a:xfrm>
            <a:off x="4843344" y="4803577"/>
            <a:ext cx="1492329" cy="228600"/>
          </a:xfrm>
          <a:prstGeom prst="rect">
            <a:avLst/>
          </a:prstGeom>
          <a:solidFill>
            <a:srgbClr val="1E3A5F">
              <a:alpha val="40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4805244" y="5127427"/>
            <a:ext cx="1568529" cy="746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lnSpc>
                <a:spcPct val="136765"/>
              </a:lnSpc>
              <a:buNone/>
            </a:pPr>
            <a:r>
              <a:rPr lang="en-US" sz="1800" dirty="0">
                <a:solidFill>
                  <a:srgbClr val="201E1D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846 · Avg 0.3988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411873" y="4903113"/>
            <a:ext cx="281702" cy="4071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4549"/>
              </a:lnSpc>
              <a:buNone/>
            </a:pPr>
            <a:r>
              <a:rPr lang="en-US" sz="1875" dirty="0">
                <a:solidFill>
                  <a:srgbClr val="201E1D">
                    <a:alpha val="4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75" dirty="0"/>
          </a:p>
        </p:txBody>
      </p:sp>
      <p:sp>
        <p:nvSpPr>
          <p:cNvPr id="17" name="Text 15"/>
          <p:cNvSpPr/>
          <p:nvPr/>
        </p:nvSpPr>
        <p:spPr>
          <a:xfrm>
            <a:off x="6171003" y="4516398"/>
            <a:ext cx="11496569" cy="4071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lnSpc>
                <a:spcPct val="134549"/>
              </a:lnSpc>
              <a:buNone/>
            </a:pPr>
            <a:r>
              <a:rPr lang="en-US" sz="1875" b="1" dirty="0">
                <a:solidFill>
                  <a:srgbClr val="201E1D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Lower Risk</a:t>
            </a:r>
            <a:endParaRPr lang="en-US" sz="1875" dirty="0"/>
          </a:p>
        </p:txBody>
      </p:sp>
      <p:sp>
        <p:nvSpPr>
          <p:cNvPr id="18" name="Shape 16"/>
          <p:cNvSpPr/>
          <p:nvPr/>
        </p:nvSpPr>
        <p:spPr>
          <a:xfrm>
            <a:off x="6693575" y="4980742"/>
            <a:ext cx="10451426" cy="228600"/>
          </a:xfrm>
          <a:prstGeom prst="rect">
            <a:avLst/>
          </a:prstGeom>
          <a:solidFill>
            <a:srgbClr val="1E3A5F">
              <a:alpha val="18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6171003" y="5304592"/>
            <a:ext cx="11496569" cy="3924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lnSpc>
                <a:spcPct val="136765"/>
              </a:lnSpc>
              <a:buNone/>
            </a:pPr>
            <a:r>
              <a:rPr lang="en-US" sz="1800" dirty="0">
                <a:solidFill>
                  <a:srgbClr val="201E1D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5,925 · Avg 0.3123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902970" y="8729186"/>
            <a:ext cx="16482060" cy="3924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lnSpc>
                <a:spcPct val="136765"/>
              </a:lnSpc>
              <a:buNone/>
            </a:pPr>
            <a:r>
              <a:rPr lang="en-US" sz="1800" b="1" dirty="0">
                <a:solidFill>
                  <a:srgbClr val="201E1D">
                    <a:alpha val="6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 Score → Risk Rank → Risk Segment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1143000" y="9159716"/>
            <a:ext cx="16002000" cy="15240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1143000" y="9384506"/>
            <a:ext cx="16482060" cy="4071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4549"/>
              </a:lnSpc>
              <a:buNone/>
            </a:pPr>
            <a:r>
              <a:rPr lang="en-US" sz="1875" b="1" dirty="0">
                <a:solidFill>
                  <a:srgbClr val="112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 Score-ийг absolute probability гэхээсээ илүү relative ranking signal болгон ашигласан.</a:t>
            </a:r>
            <a:endParaRPr lang="en-US" sz="1875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685800"/>
            <a:ext cx="17602200" cy="5928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97067"/>
              </a:lnSpc>
              <a:buNone/>
            </a:pPr>
            <a:r>
              <a:rPr lang="en-US" sz="3900" b="1" kern="0" spc="-58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Бизнес дээр хэрхэн ашиглаж болох вэ?</a:t>
            </a:r>
            <a:endParaRPr lang="en-US" sz="3900" dirty="0"/>
          </a:p>
        </p:txBody>
      </p:sp>
      <p:sp>
        <p:nvSpPr>
          <p:cNvPr id="3" name="Text 1"/>
          <p:cNvSpPr/>
          <p:nvPr/>
        </p:nvSpPr>
        <p:spPr>
          <a:xfrm>
            <a:off x="1143000" y="1316712"/>
            <a:ext cx="17602200" cy="3924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6765"/>
              </a:lnSpc>
              <a:buNone/>
            </a:pPr>
            <a:r>
              <a:rPr lang="en-US" sz="1800" dirty="0">
                <a:solidFill>
                  <a:srgbClr val="201E1D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Proposed use case / prototype implication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1143000" y="1804392"/>
            <a:ext cx="16002000" cy="15240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1104900" y="2105382"/>
            <a:ext cx="856774" cy="4071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lnSpc>
                <a:spcPct val="134549"/>
              </a:lnSpc>
              <a:buNone/>
            </a:pPr>
            <a:r>
              <a:rPr lang="en-US" sz="1875" b="1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DPD31</a:t>
            </a:r>
            <a:endParaRPr lang="en-US" sz="1875" dirty="0"/>
          </a:p>
        </p:txBody>
      </p:sp>
      <p:sp>
        <p:nvSpPr>
          <p:cNvPr id="6" name="Text 4"/>
          <p:cNvSpPr/>
          <p:nvPr/>
        </p:nvSpPr>
        <p:spPr>
          <a:xfrm>
            <a:off x="2190512" y="2105382"/>
            <a:ext cx="281702" cy="4071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lnSpc>
                <a:spcPct val="134549"/>
              </a:lnSpc>
              <a:buNone/>
            </a:pPr>
            <a:r>
              <a:rPr lang="en-US" sz="1875" b="1" dirty="0">
                <a:solidFill>
                  <a:srgbClr val="201E1D">
                    <a:alpha val="4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75" dirty="0"/>
          </a:p>
        </p:txBody>
      </p:sp>
      <p:sp>
        <p:nvSpPr>
          <p:cNvPr id="7" name="Text 5"/>
          <p:cNvSpPr/>
          <p:nvPr/>
        </p:nvSpPr>
        <p:spPr>
          <a:xfrm>
            <a:off x="2669810" y="2105382"/>
            <a:ext cx="1525524" cy="4071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lnSpc>
                <a:spcPct val="134549"/>
              </a:lnSpc>
              <a:buNone/>
            </a:pPr>
            <a:r>
              <a:rPr lang="en-US" sz="1875" b="1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 Scoring</a:t>
            </a:r>
            <a:endParaRPr lang="en-US" sz="1875" dirty="0"/>
          </a:p>
        </p:txBody>
      </p:sp>
      <p:sp>
        <p:nvSpPr>
          <p:cNvPr id="8" name="Text 6"/>
          <p:cNvSpPr/>
          <p:nvPr/>
        </p:nvSpPr>
        <p:spPr>
          <a:xfrm>
            <a:off x="4393049" y="2105382"/>
            <a:ext cx="281702" cy="4071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lnSpc>
                <a:spcPct val="134549"/>
              </a:lnSpc>
              <a:buNone/>
            </a:pPr>
            <a:r>
              <a:rPr lang="en-US" sz="1875" b="1" dirty="0">
                <a:solidFill>
                  <a:srgbClr val="201E1D">
                    <a:alpha val="4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75" dirty="0"/>
          </a:p>
        </p:txBody>
      </p:sp>
      <p:sp>
        <p:nvSpPr>
          <p:cNvPr id="9" name="Text 7"/>
          <p:cNvSpPr/>
          <p:nvPr/>
        </p:nvSpPr>
        <p:spPr>
          <a:xfrm>
            <a:off x="4869775" y="2105382"/>
            <a:ext cx="1582103" cy="4071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lnSpc>
                <a:spcPct val="134549"/>
              </a:lnSpc>
              <a:buNone/>
            </a:pPr>
            <a:r>
              <a:rPr lang="en-US" sz="1875" b="1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 Ranking</a:t>
            </a:r>
            <a:endParaRPr lang="en-US" sz="1875" dirty="0"/>
          </a:p>
        </p:txBody>
      </p:sp>
      <p:sp>
        <p:nvSpPr>
          <p:cNvPr id="10" name="Text 8"/>
          <p:cNvSpPr/>
          <p:nvPr/>
        </p:nvSpPr>
        <p:spPr>
          <a:xfrm>
            <a:off x="6646902" y="2105382"/>
            <a:ext cx="281702" cy="4071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lnSpc>
                <a:spcPct val="134549"/>
              </a:lnSpc>
              <a:buNone/>
            </a:pPr>
            <a:r>
              <a:rPr lang="en-US" sz="1875" b="1" dirty="0">
                <a:solidFill>
                  <a:srgbClr val="201E1D">
                    <a:alpha val="4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75" dirty="0"/>
          </a:p>
        </p:txBody>
      </p:sp>
      <p:sp>
        <p:nvSpPr>
          <p:cNvPr id="11" name="Text 9"/>
          <p:cNvSpPr/>
          <p:nvPr/>
        </p:nvSpPr>
        <p:spPr>
          <a:xfrm>
            <a:off x="7097685" y="2105382"/>
            <a:ext cx="2152864" cy="4071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lnSpc>
                <a:spcPct val="134549"/>
              </a:lnSpc>
              <a:buNone/>
            </a:pPr>
            <a:r>
              <a:rPr lang="en-US" sz="1875" b="1" dirty="0">
                <a:solidFill>
                  <a:srgbClr val="112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Priority Segments</a:t>
            </a:r>
            <a:endParaRPr lang="en-US" sz="1875" dirty="0"/>
          </a:p>
        </p:txBody>
      </p:sp>
      <p:sp>
        <p:nvSpPr>
          <p:cNvPr id="12" name="Text 10"/>
          <p:cNvSpPr/>
          <p:nvPr/>
        </p:nvSpPr>
        <p:spPr>
          <a:xfrm>
            <a:off x="9419630" y="2105382"/>
            <a:ext cx="281702" cy="4071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lnSpc>
                <a:spcPct val="134549"/>
              </a:lnSpc>
              <a:buNone/>
            </a:pPr>
            <a:r>
              <a:rPr lang="en-US" sz="1875" b="1" dirty="0">
                <a:solidFill>
                  <a:srgbClr val="201E1D">
                    <a:alpha val="4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75" dirty="0"/>
          </a:p>
        </p:txBody>
      </p:sp>
      <p:sp>
        <p:nvSpPr>
          <p:cNvPr id="13" name="Text 11"/>
          <p:cNvSpPr/>
          <p:nvPr/>
        </p:nvSpPr>
        <p:spPr>
          <a:xfrm>
            <a:off x="9838468" y="2105382"/>
            <a:ext cx="2855643" cy="4071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lnSpc>
                <a:spcPct val="134549"/>
              </a:lnSpc>
              <a:buNone/>
            </a:pPr>
            <a:r>
              <a:rPr lang="en-US" sz="1875" b="1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Collection / Intervention</a:t>
            </a:r>
            <a:endParaRPr lang="en-US" sz="1875" dirty="0"/>
          </a:p>
        </p:txBody>
      </p:sp>
      <p:sp>
        <p:nvSpPr>
          <p:cNvPr id="14" name="Text 12"/>
          <p:cNvSpPr/>
          <p:nvPr/>
        </p:nvSpPr>
        <p:spPr>
          <a:xfrm>
            <a:off x="12831366" y="2105382"/>
            <a:ext cx="281702" cy="4071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lnSpc>
                <a:spcPct val="134549"/>
              </a:lnSpc>
              <a:buNone/>
            </a:pPr>
            <a:r>
              <a:rPr lang="en-US" sz="1875" b="1" dirty="0">
                <a:solidFill>
                  <a:srgbClr val="201E1D">
                    <a:alpha val="4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75" dirty="0"/>
          </a:p>
        </p:txBody>
      </p:sp>
      <p:sp>
        <p:nvSpPr>
          <p:cNvPr id="15" name="Text 13"/>
          <p:cNvSpPr/>
          <p:nvPr/>
        </p:nvSpPr>
        <p:spPr>
          <a:xfrm>
            <a:off x="13291816" y="2105382"/>
            <a:ext cx="1940171" cy="4071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lnSpc>
                <a:spcPct val="134549"/>
              </a:lnSpc>
              <a:buNone/>
            </a:pPr>
            <a:r>
              <a:rPr lang="en-US" sz="1875" b="1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Actual Outcome</a:t>
            </a:r>
            <a:endParaRPr lang="en-US" sz="1875" dirty="0"/>
          </a:p>
        </p:txBody>
      </p:sp>
      <p:sp>
        <p:nvSpPr>
          <p:cNvPr id="16" name="Text 14"/>
          <p:cNvSpPr/>
          <p:nvPr/>
        </p:nvSpPr>
        <p:spPr>
          <a:xfrm>
            <a:off x="15410736" y="2105382"/>
            <a:ext cx="281702" cy="4071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lnSpc>
                <a:spcPct val="134549"/>
              </a:lnSpc>
              <a:buNone/>
            </a:pPr>
            <a:r>
              <a:rPr lang="en-US" sz="1875" b="1" dirty="0">
                <a:solidFill>
                  <a:srgbClr val="201E1D">
                    <a:alpha val="4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75" dirty="0"/>
          </a:p>
        </p:txBody>
      </p:sp>
      <p:sp>
        <p:nvSpPr>
          <p:cNvPr id="17" name="Text 15"/>
          <p:cNvSpPr/>
          <p:nvPr/>
        </p:nvSpPr>
        <p:spPr>
          <a:xfrm>
            <a:off x="15921276" y="2105382"/>
            <a:ext cx="1261824" cy="4071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ctr">
              <a:lnSpc>
                <a:spcPct val="134549"/>
              </a:lnSpc>
              <a:buNone/>
            </a:pPr>
            <a:r>
              <a:rPr lang="en-US" sz="1875" b="1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Monitoring</a:t>
            </a:r>
            <a:endParaRPr lang="en-US" sz="1875" dirty="0"/>
          </a:p>
        </p:txBody>
      </p:sp>
      <p:sp>
        <p:nvSpPr>
          <p:cNvPr id="18" name="Text 16"/>
          <p:cNvSpPr/>
          <p:nvPr/>
        </p:nvSpPr>
        <p:spPr>
          <a:xfrm>
            <a:off x="1143000" y="2893576"/>
            <a:ext cx="7954518" cy="3924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6765"/>
              </a:lnSpc>
              <a:buNone/>
            </a:pPr>
            <a:r>
              <a:rPr lang="en-US" sz="1800" kern="0" spc="108" dirty="0">
                <a:solidFill>
                  <a:srgbClr val="201E1D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PROJECT RESULT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143000" y="3381256"/>
            <a:ext cx="7448322" cy="800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38889"/>
              </a:lnSpc>
              <a:buNone/>
            </a:pPr>
            <a:r>
              <a:rPr lang="en-US" sz="1875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 score-оор эрэмбэлж, High / High-Medium / Medium / Lower Risk гэсэн 4 priority бүлэг гаргасан.</a:t>
            </a:r>
            <a:endParaRPr lang="en-US" sz="1875" dirty="0"/>
          </a:p>
        </p:txBody>
      </p:sp>
      <p:sp>
        <p:nvSpPr>
          <p:cNvPr id="20" name="Shape 18"/>
          <p:cNvSpPr/>
          <p:nvPr/>
        </p:nvSpPr>
        <p:spPr>
          <a:xfrm>
            <a:off x="9136380" y="2893576"/>
            <a:ext cx="15240" cy="6266140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9913620" y="2893576"/>
            <a:ext cx="7954518" cy="3924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6765"/>
              </a:lnSpc>
              <a:buNone/>
            </a:pPr>
            <a:r>
              <a:rPr lang="en-US" sz="1800" kern="0" spc="108" dirty="0">
                <a:solidFill>
                  <a:srgbClr val="201E1D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 PRODUCTION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9956483" y="3381256"/>
            <a:ext cx="7264718" cy="1943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166688" indent="-166688" algn="l">
              <a:lnSpc>
                <a:spcPct val="138889"/>
              </a:lnSpc>
              <a:buSzPct val="100000"/>
              <a:buChar char="•"/>
              <a:tabLst>
                <a:tab pos="166688" algn="l"/>
              </a:tabLst>
            </a:pPr>
            <a:r>
              <a:rPr lang="en-US" sz="1875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Credit/customer-level split</a:t>
            </a:r>
            <a:endParaRPr lang="en-US" sz="1875" dirty="0"/>
          </a:p>
          <a:p>
            <a:pPr marL="166688" indent="-166688" algn="l">
              <a:lnSpc>
                <a:spcPct val="138889"/>
              </a:lnSpc>
              <a:buSzPct val="100000"/>
              <a:buChar char="•"/>
              <a:tabLst>
                <a:tab pos="166688" algn="l"/>
              </a:tabLst>
            </a:pPr>
            <a:r>
              <a:rPr lang="en-US" sz="1875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Future-period / Temporal Validation</a:t>
            </a:r>
            <a:endParaRPr lang="en-US" sz="1875" dirty="0"/>
          </a:p>
          <a:p>
            <a:pPr marL="166688" indent="-166688" algn="l">
              <a:lnSpc>
                <a:spcPct val="138889"/>
              </a:lnSpc>
              <a:buSzPct val="100000"/>
              <a:buChar char="•"/>
              <a:tabLst>
                <a:tab pos="166688" algn="l"/>
              </a:tabLst>
            </a:pPr>
            <a:r>
              <a:rPr lang="en-US" sz="1875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Probability Calibration</a:t>
            </a:r>
            <a:endParaRPr lang="en-US" sz="1875" dirty="0"/>
          </a:p>
          <a:p>
            <a:pPr marL="166688" indent="-166688" algn="l">
              <a:lnSpc>
                <a:spcPct val="138889"/>
              </a:lnSpc>
              <a:buSzPct val="100000"/>
              <a:buChar char="•"/>
              <a:tabLst>
                <a:tab pos="166688" algn="l"/>
              </a:tabLst>
            </a:pPr>
            <a:r>
              <a:rPr lang="en-US" sz="1875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cost-based threshold</a:t>
            </a:r>
            <a:endParaRPr lang="en-US" sz="1875" dirty="0"/>
          </a:p>
          <a:p>
            <a:pPr marL="166688" indent="-166688" algn="l">
              <a:lnSpc>
                <a:spcPct val="138889"/>
              </a:lnSpc>
              <a:buSzPct val="100000"/>
              <a:buChar char="•"/>
              <a:tabLst>
                <a:tab pos="166688" algn="l"/>
              </a:tabLst>
            </a:pPr>
            <a:r>
              <a:rPr lang="en-US" sz="1875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&amp; data drift monitoring</a:t>
            </a:r>
            <a:endParaRPr lang="en-US" sz="1875" dirty="0"/>
          </a:p>
        </p:txBody>
      </p:sp>
      <p:sp>
        <p:nvSpPr>
          <p:cNvPr id="23" name="Shape 21"/>
          <p:cNvSpPr/>
          <p:nvPr/>
        </p:nvSpPr>
        <p:spPr>
          <a:xfrm>
            <a:off x="1143000" y="9159716"/>
            <a:ext cx="16002000" cy="15240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24" name="Text 22"/>
          <p:cNvSpPr/>
          <p:nvPr/>
        </p:nvSpPr>
        <p:spPr>
          <a:xfrm>
            <a:off x="1143000" y="9384506"/>
            <a:ext cx="16482060" cy="4071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4549"/>
              </a:lnSpc>
              <a:buNone/>
            </a:pPr>
            <a:r>
              <a:rPr lang="en-US" sz="1875" b="1" dirty="0">
                <a:solidFill>
                  <a:srgbClr val="112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нь automated credit decision maker биш, decision-support / risk-prioritization tool.</a:t>
            </a:r>
            <a:endParaRPr lang="en-US" sz="1875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685800"/>
            <a:ext cx="17602200" cy="5928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97067"/>
              </a:lnSpc>
              <a:buNone/>
            </a:pPr>
            <a:r>
              <a:rPr lang="en-US" sz="3900" b="1" kern="0" spc="-58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Гол дүгнэлт</a:t>
            </a:r>
            <a:endParaRPr lang="en-US" sz="39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3" name="Shape 1"/>
          <p:cNvSpPr/>
          <p:nvPr/>
        </p:nvSpPr>
        <p:spPr>
          <a:xfrm>
            <a:off x="1143000" y="1450062"/>
            <a:ext cx="16002000" cy="15240"/>
          </a:xfrm>
          <a:prstGeom prst="rect">
            <a:avLst/>
          </a:prstGeom>
          <a:solidFill>
            <a:schemeClr val="tx1">
              <a:lumMod val="85000"/>
              <a:lumOff val="15000"/>
              <a:alpha val="35000"/>
            </a:schemeClr>
          </a:solidFill>
          <a:ln/>
        </p:spPr>
      </p:sp>
      <p:sp>
        <p:nvSpPr>
          <p:cNvPr id="4" name="Text 2"/>
          <p:cNvSpPr/>
          <p:nvPr/>
        </p:nvSpPr>
        <p:spPr>
          <a:xfrm>
            <a:off x="1143000" y="4173498"/>
            <a:ext cx="4883825" cy="5400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7240"/>
              </a:lnSpc>
              <a:buNone/>
            </a:pPr>
            <a:r>
              <a:rPr lang="en-US" sz="255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55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5" name="Text 3"/>
          <p:cNvSpPr/>
          <p:nvPr/>
        </p:nvSpPr>
        <p:spPr>
          <a:xfrm>
            <a:off x="1143000" y="4770715"/>
            <a:ext cx="4883825" cy="6581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3402"/>
              </a:lnSpc>
              <a:buNone/>
            </a:pPr>
            <a:r>
              <a:rPr lang="en-US" sz="315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XGBoost</a:t>
            </a:r>
            <a:endParaRPr lang="en-US" sz="315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6" name="Text 4"/>
          <p:cNvSpPr/>
          <p:nvPr/>
        </p:nvSpPr>
        <p:spPr>
          <a:xfrm>
            <a:off x="1143000" y="5486043"/>
            <a:ext cx="4573036" cy="752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30208"/>
              </a:lnSpc>
              <a:buNone/>
            </a:pPr>
            <a:r>
              <a:rPr lang="en-US" sz="1875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Хамгийн өндөр Test ROC-AUC болон PR-AUC.</a:t>
            </a:r>
            <a:endParaRPr lang="en-US" sz="1875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7" name="Shape 5"/>
          <p:cNvSpPr/>
          <p:nvPr/>
        </p:nvSpPr>
        <p:spPr>
          <a:xfrm>
            <a:off x="6249591" y="4352092"/>
            <a:ext cx="9525" cy="1669733"/>
          </a:xfrm>
          <a:prstGeom prst="rect">
            <a:avLst/>
          </a:prstGeom>
          <a:solidFill>
            <a:srgbClr val="FFFFFF">
              <a:alpha val="30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6923961" y="4352092"/>
            <a:ext cx="4883956" cy="5400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7240"/>
              </a:lnSpc>
              <a:buNone/>
            </a:pPr>
            <a:r>
              <a:rPr lang="en-US" sz="255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55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9" name="Text 7"/>
          <p:cNvSpPr/>
          <p:nvPr/>
        </p:nvSpPr>
        <p:spPr>
          <a:xfrm>
            <a:off x="6923961" y="4949309"/>
            <a:ext cx="4883956" cy="6581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3402"/>
              </a:lnSpc>
              <a:buNone/>
            </a:pPr>
            <a:r>
              <a:rPr lang="en-US" sz="315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46.01% · 1.61×</a:t>
            </a:r>
            <a:endParaRPr lang="en-US" sz="315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0" name="Text 8"/>
          <p:cNvSpPr/>
          <p:nvPr/>
        </p:nvSpPr>
        <p:spPr>
          <a:xfrm>
            <a:off x="6923961" y="5664637"/>
            <a:ext cx="4883956" cy="3952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0208"/>
              </a:lnSpc>
              <a:buNone/>
            </a:pPr>
            <a:r>
              <a:rPr lang="en-US" sz="1875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10% segment-ийн Lift.</a:t>
            </a:r>
            <a:endParaRPr lang="en-US" sz="1875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1" name="Shape 9"/>
          <p:cNvSpPr/>
          <p:nvPr/>
        </p:nvSpPr>
        <p:spPr>
          <a:xfrm>
            <a:off x="12030670" y="4352092"/>
            <a:ext cx="9525" cy="1669733"/>
          </a:xfrm>
          <a:prstGeom prst="rect">
            <a:avLst/>
          </a:prstGeom>
          <a:solidFill>
            <a:srgbClr val="FFFFFF">
              <a:alpha val="30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12705041" y="4352092"/>
            <a:ext cx="4883956" cy="5400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7240"/>
              </a:lnSpc>
              <a:buNone/>
            </a:pPr>
            <a:r>
              <a:rPr lang="en-US" sz="255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55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3" name="Text 11"/>
          <p:cNvSpPr/>
          <p:nvPr/>
        </p:nvSpPr>
        <p:spPr>
          <a:xfrm>
            <a:off x="12705041" y="4949309"/>
            <a:ext cx="4883956" cy="6581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3402"/>
              </a:lnSpc>
              <a:buNone/>
            </a:pPr>
            <a:r>
              <a:rPr lang="en-US" sz="315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Value</a:t>
            </a:r>
            <a:endParaRPr lang="en-US" sz="315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4" name="Text 12"/>
          <p:cNvSpPr/>
          <p:nvPr/>
        </p:nvSpPr>
        <p:spPr>
          <a:xfrm>
            <a:off x="12705041" y="5664637"/>
            <a:ext cx="4883956" cy="3952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0208"/>
              </a:lnSpc>
              <a:buNone/>
            </a:pPr>
            <a:r>
              <a:rPr lang="en-US" sz="1875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Collection / early intervention priority.</a:t>
            </a:r>
            <a:endParaRPr lang="en-US" sz="1875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5" name="Shape 13"/>
          <p:cNvSpPr/>
          <p:nvPr/>
        </p:nvSpPr>
        <p:spPr>
          <a:xfrm>
            <a:off x="1143000" y="8908732"/>
            <a:ext cx="16002000" cy="15240"/>
          </a:xfrm>
          <a:prstGeom prst="rect">
            <a:avLst/>
          </a:prstGeom>
          <a:solidFill>
            <a:schemeClr val="tx1">
              <a:lumMod val="85000"/>
              <a:lumOff val="15000"/>
              <a:alpha val="35000"/>
            </a:schemeClr>
          </a:solidFill>
          <a:ln/>
        </p:spPr>
      </p:sp>
      <p:sp>
        <p:nvSpPr>
          <p:cNvPr id="16" name="Text 14"/>
          <p:cNvSpPr/>
          <p:nvPr/>
        </p:nvSpPr>
        <p:spPr>
          <a:xfrm>
            <a:off x="1143000" y="9324023"/>
            <a:ext cx="9702689" cy="3924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6765"/>
              </a:lnSpc>
              <a:buNone/>
            </a:pPr>
            <a:r>
              <a:rPr lang="en-US" sz="18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Production-оос өмнө: strict validation + calibration + business cost-based decision rule.</a:t>
            </a:r>
            <a:endParaRPr lang="en-US" sz="18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24</TotalTime>
  <Words>1255</Words>
  <Application>Microsoft Office PowerPoint</Application>
  <PresentationFormat>Custom</PresentationFormat>
  <Paragraphs>212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KHISHIGJARGAL Gantulga</cp:lastModifiedBy>
  <cp:revision>2</cp:revision>
  <dcterms:created xsi:type="dcterms:W3CDTF">2026-08-18T07:09:17Z</dcterms:created>
  <dcterms:modified xsi:type="dcterms:W3CDTF">2026-08-18T07:41:25Z</dcterms:modified>
</cp:coreProperties>
</file>